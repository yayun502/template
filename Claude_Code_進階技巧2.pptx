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大標題文字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大標題文字</a:t>
            </a:r>
          </a:p>
        </p:txBody>
      </p:sp>
      <p:sp>
        <p:nvSpPr>
          <p:cNvPr id="3" name="內文層級一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幻燈片編號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multica-ai/andrej-karpathy-skills/blob/main/CLAUDE.md" TargetMode="External"/><Relationship Id="rId3" Type="http://schemas.openxmlformats.org/officeDocument/2006/relationships/hyperlink" Target="https://x.com/Mnilax/article/2053116311132155938" TargetMode="External"/><Relationship Id="rId4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tif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cmux.com/zh-TW" TargetMode="External"/><Relationship Id="rId3" Type="http://schemas.openxmlformats.org/officeDocument/2006/relationships/hyperlink" Target="https://cmux.com/zh-TW" TargetMode="External"/><Relationship Id="rId4" Type="http://schemas.openxmlformats.org/officeDocument/2006/relationships/hyperlink" Target="https://github.com/amirlehmam/wmux" TargetMode="External"/><Relationship Id="rId5" Type="http://schemas.openxmlformats.org/officeDocument/2006/relationships/hyperlink" Target="https://tabby.sh/" TargetMode="Externa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3200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0" y="4892040"/>
            <a:ext cx="9144000" cy="256033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5669279" y="-1371600"/>
            <a:ext cx="5486401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Text 3"/>
          <p:cNvSpPr txBox="1"/>
          <p:nvPr/>
        </p:nvSpPr>
        <p:spPr>
          <a:xfrm>
            <a:off x="640080" y="834389"/>
            <a:ext cx="8229601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Claude Code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640080" y="1718310"/>
            <a:ext cx="822960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4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新知與工具分享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640080" y="3014979"/>
            <a:ext cx="82296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A0BEC5"/>
                </a:solidFill>
              </a:defRPr>
            </a:lvl1pPr>
          </a:lstStyle>
          <a:p>
            <a:pPr/>
            <a:r>
              <a:t>Claude.md  ×  Cmux 終端機  ×  CC Alias &amp; NO FLICKER 模式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今天的主題</a:t>
            </a:r>
          </a:p>
        </p:txBody>
      </p:sp>
      <p:sp>
        <p:nvSpPr>
          <p:cNvPr id="29" name="Shape 2"/>
          <p:cNvSpPr/>
          <p:nvPr/>
        </p:nvSpPr>
        <p:spPr>
          <a:xfrm>
            <a:off x="365759" y="1005839"/>
            <a:ext cx="2651762" cy="374904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  <a:effectLst>
            <a:outerShdw sx="100000" sy="100000" kx="0" ky="0" algn="b" rotWithShape="0" blurRad="101600" dist="381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" name="Shape 3"/>
          <p:cNvSpPr/>
          <p:nvPr/>
        </p:nvSpPr>
        <p:spPr>
          <a:xfrm>
            <a:off x="365759" y="1005839"/>
            <a:ext cx="2651762" cy="54864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4"/>
          <p:cNvSpPr txBox="1"/>
          <p:nvPr/>
        </p:nvSpPr>
        <p:spPr>
          <a:xfrm>
            <a:off x="475487" y="1110487"/>
            <a:ext cx="9144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2" name="Text 5"/>
          <p:cNvSpPr txBox="1"/>
          <p:nvPr/>
        </p:nvSpPr>
        <p:spPr>
          <a:xfrm>
            <a:off x="548640" y="1866391"/>
            <a:ext cx="228600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7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Claude.md</a:t>
            </a:r>
          </a:p>
        </p:txBody>
      </p:sp>
      <p:sp>
        <p:nvSpPr>
          <p:cNvPr id="33" name="Text 6"/>
          <p:cNvSpPr txBox="1"/>
          <p:nvPr/>
        </p:nvSpPr>
        <p:spPr>
          <a:xfrm>
            <a:off x="548640" y="3182819"/>
            <a:ext cx="2286001" cy="62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5A7075"/>
                </a:solidFill>
              </a:defRPr>
            </a:pPr>
            <a:r>
              <a:t>Gemini 記憶遷移提示詞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5A7075"/>
                </a:solidFill>
              </a:defRPr>
            </a:pPr>
            <a:r>
              <a:t>CLAUDE.md的</a:t>
            </a:r>
            <a:r>
              <a:t>12 條規則</a:t>
            </a:r>
          </a:p>
        </p:txBody>
      </p:sp>
      <p:sp>
        <p:nvSpPr>
          <p:cNvPr id="34" name="Shape 7"/>
          <p:cNvSpPr/>
          <p:nvPr/>
        </p:nvSpPr>
        <p:spPr>
          <a:xfrm>
            <a:off x="3246120" y="1005839"/>
            <a:ext cx="2651761" cy="374904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  <a:effectLst>
            <a:outerShdw sx="100000" sy="100000" kx="0" ky="0" algn="b" rotWithShape="0" blurRad="101600" dist="381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" name="Shape 8"/>
          <p:cNvSpPr/>
          <p:nvPr/>
        </p:nvSpPr>
        <p:spPr>
          <a:xfrm>
            <a:off x="3246120" y="1005839"/>
            <a:ext cx="2651761" cy="54864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9"/>
          <p:cNvSpPr txBox="1"/>
          <p:nvPr/>
        </p:nvSpPr>
        <p:spPr>
          <a:xfrm>
            <a:off x="3355847" y="1110487"/>
            <a:ext cx="9144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7" name="Text 10"/>
          <p:cNvSpPr txBox="1"/>
          <p:nvPr/>
        </p:nvSpPr>
        <p:spPr>
          <a:xfrm>
            <a:off x="3429000" y="1840991"/>
            <a:ext cx="2286000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7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Cmux 終端機</a:t>
            </a:r>
          </a:p>
        </p:txBody>
      </p:sp>
      <p:sp>
        <p:nvSpPr>
          <p:cNvPr id="38" name="Text 11"/>
          <p:cNvSpPr txBox="1"/>
          <p:nvPr/>
        </p:nvSpPr>
        <p:spPr>
          <a:xfrm>
            <a:off x="3429000" y="3199637"/>
            <a:ext cx="2286000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5A7075"/>
                </a:solidFill>
              </a:defRPr>
            </a:pPr>
            <a:r>
              <a:t>核心特色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5A7075"/>
                </a:solidFill>
              </a:defRPr>
            </a:pPr>
            <a:r>
              <a:t>Mac / Windows 安裝</a:t>
            </a:r>
          </a:p>
        </p:txBody>
      </p:sp>
      <p:sp>
        <p:nvSpPr>
          <p:cNvPr id="39" name="Shape 12"/>
          <p:cNvSpPr/>
          <p:nvPr/>
        </p:nvSpPr>
        <p:spPr>
          <a:xfrm>
            <a:off x="6126479" y="1005839"/>
            <a:ext cx="2651761" cy="374904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  <a:effectLst>
            <a:outerShdw sx="100000" sy="100000" kx="0" ky="0" algn="b" rotWithShape="0" blurRad="101600" dist="381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" name="Shape 13"/>
          <p:cNvSpPr/>
          <p:nvPr/>
        </p:nvSpPr>
        <p:spPr>
          <a:xfrm>
            <a:off x="6126479" y="1005839"/>
            <a:ext cx="2651761" cy="54864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14"/>
          <p:cNvSpPr txBox="1"/>
          <p:nvPr/>
        </p:nvSpPr>
        <p:spPr>
          <a:xfrm>
            <a:off x="6236208" y="1110487"/>
            <a:ext cx="9144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2" name="Text 15"/>
          <p:cNvSpPr txBox="1"/>
          <p:nvPr/>
        </p:nvSpPr>
        <p:spPr>
          <a:xfrm>
            <a:off x="6309360" y="1713991"/>
            <a:ext cx="228600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7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CC Alias &amp;</a:t>
            </a:r>
          </a:p>
          <a:p>
            <a:pPr>
              <a:defRPr b="1" sz="17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NO FLICKER 模式</a:t>
            </a:r>
          </a:p>
        </p:txBody>
      </p:sp>
      <p:sp>
        <p:nvSpPr>
          <p:cNvPr id="43" name="Text 16"/>
          <p:cNvSpPr txBox="1"/>
          <p:nvPr/>
        </p:nvSpPr>
        <p:spPr>
          <a:xfrm>
            <a:off x="6309360" y="3104387"/>
            <a:ext cx="228600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5A7075"/>
                </a:solidFill>
              </a:defRPr>
            </a:pPr>
            <a:r>
              <a:t>完整差異對照表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5A7075"/>
                </a:solidFill>
              </a:defRPr>
            </a:pPr>
            <a:r>
              <a:t>macOS / Linux / PowerShell 安裝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-1" y="0"/>
            <a:ext cx="3200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1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2"/>
          <p:cNvSpPr txBox="1"/>
          <p:nvPr/>
        </p:nvSpPr>
        <p:spPr>
          <a:xfrm>
            <a:off x="640080" y="415289"/>
            <a:ext cx="8229601" cy="118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8" name="Text 3"/>
          <p:cNvSpPr txBox="1"/>
          <p:nvPr/>
        </p:nvSpPr>
        <p:spPr>
          <a:xfrm>
            <a:off x="640080" y="1935479"/>
            <a:ext cx="8229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Claude.md</a:t>
            </a:r>
          </a:p>
        </p:txBody>
      </p:sp>
      <p:sp>
        <p:nvSpPr>
          <p:cNvPr id="49" name="Text 4"/>
          <p:cNvSpPr txBox="1"/>
          <p:nvPr/>
        </p:nvSpPr>
        <p:spPr>
          <a:xfrm>
            <a:off x="640080" y="3002279"/>
            <a:ext cx="7772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A0BEC5"/>
                </a:solidFill>
              </a:defRPr>
            </a:lvl1pPr>
          </a:lstStyle>
          <a:p>
            <a:pPr/>
            <a:r>
              <a:t>Gemini 個人化記憶遷移 × 12 條規則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將 AI 記憶遷移到其他 AI 平台</a:t>
            </a:r>
          </a:p>
        </p:txBody>
      </p:sp>
      <p:sp>
        <p:nvSpPr>
          <p:cNvPr id="53" name="Shape 2"/>
          <p:cNvSpPr/>
          <p:nvPr/>
        </p:nvSpPr>
        <p:spPr>
          <a:xfrm>
            <a:off x="365759" y="1005839"/>
            <a:ext cx="8412482" cy="3840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Shape 3"/>
          <p:cNvSpPr/>
          <p:nvPr/>
        </p:nvSpPr>
        <p:spPr>
          <a:xfrm>
            <a:off x="365759" y="1005839"/>
            <a:ext cx="73153" cy="384048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4"/>
          <p:cNvSpPr txBox="1"/>
          <p:nvPr/>
        </p:nvSpPr>
        <p:spPr>
          <a:xfrm>
            <a:off x="594359" y="1155954"/>
            <a:ext cx="795528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目的</a:t>
            </a:r>
          </a:p>
        </p:txBody>
      </p:sp>
      <p:sp>
        <p:nvSpPr>
          <p:cNvPr id="56" name="Text 5"/>
          <p:cNvSpPr txBox="1"/>
          <p:nvPr/>
        </p:nvSpPr>
        <p:spPr>
          <a:xfrm>
            <a:off x="640079" y="1524942"/>
            <a:ext cx="7863841" cy="3341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500">
                <a:solidFill>
                  <a:srgbClr val="1C1C2E"/>
                </a:solidFill>
              </a:defRPr>
            </a:pPr>
            <a:r>
              <a:t>大家希望把AI的記憶搬到Gemini上。</a:t>
            </a:r>
          </a:p>
          <a:p>
            <a:pPr>
              <a:defRPr sz="1500">
                <a:solidFill>
                  <a:srgbClr val="1C1C2E"/>
                </a:solidFill>
              </a:defRPr>
            </a:pPr>
            <a:r>
              <a:t>複製建議的提示詞，貼到另一個 AI 應用程式，生成個人偏好和風格的摘要。</a:t>
            </a:r>
          </a:p>
          <a:p>
            <a:pPr>
              <a:defRPr sz="1500">
                <a:solidFill>
                  <a:srgbClr val="1C1C2E"/>
                </a:solidFill>
              </a:defRPr>
            </a:pPr>
            <a:r>
              <a:t>同樣可用於CLAUDE.md內以建立更具個人化的agent。</a:t>
            </a:r>
          </a:p>
          <a:p>
            <a:pPr>
              <a:defRPr sz="1500">
                <a:solidFill>
                  <a:srgbClr val="1C1C2E"/>
                </a:solidFill>
              </a:defRPr>
            </a:pPr>
          </a:p>
          <a:p>
            <a:pPr>
              <a:defRPr sz="1500">
                <a:solidFill>
                  <a:srgbClr val="1C1C2E"/>
                </a:solidFill>
              </a:defRPr>
            </a:pPr>
          </a:p>
          <a:p>
            <a:pPr>
              <a:defRPr sz="1500">
                <a:solidFill>
                  <a:srgbClr val="1C1C2E"/>
                </a:solidFill>
              </a:defRPr>
            </a:pPr>
          </a:p>
          <a:p>
            <a:pPr>
              <a:defRPr sz="1500">
                <a:solidFill>
                  <a:srgbClr val="1C1C2E"/>
                </a:solidFill>
              </a:defRPr>
            </a:pPr>
          </a:p>
          <a:p>
            <a:pPr>
              <a:defRPr sz="1500">
                <a:solidFill>
                  <a:srgbClr val="1C1C2E"/>
                </a:solidFill>
              </a:defRPr>
            </a:pPr>
          </a:p>
          <a:p>
            <a:pPr>
              <a:defRPr sz="1500">
                <a:solidFill>
                  <a:srgbClr val="1C1C2E"/>
                </a:solidFill>
              </a:defRPr>
            </a:pPr>
            <a:r>
              <a:t> </a:t>
            </a:r>
          </a:p>
          <a:p>
            <a:pPr>
              <a:defRPr b="1" sz="1500">
                <a:solidFill>
                  <a:srgbClr val="1C1C2E"/>
                </a:solidFill>
              </a:defRPr>
            </a:pPr>
          </a:p>
          <a:p>
            <a:pPr>
              <a:defRPr b="1" sz="1500">
                <a:solidFill>
                  <a:srgbClr val="1C1C2E"/>
                </a:solidFill>
              </a:defRPr>
            </a:pPr>
            <a:r>
              <a:t>Gemini 官方連結：</a:t>
            </a:r>
            <a:r>
              <a:rPr b="0">
                <a:solidFill>
                  <a:srgbClr val="028090"/>
                </a:solidFill>
              </a:rPr>
              <a:t> gemini.google/tw/import-memory/?hl=zh-TW</a:t>
            </a:r>
          </a:p>
          <a:p>
            <a:pPr>
              <a:defRPr sz="1500">
                <a:solidFill>
                  <a:srgbClr val="1C1C2E"/>
                </a:solidFill>
              </a:defRPr>
            </a:pPr>
            <a:r>
              <a:t> </a:t>
            </a:r>
          </a:p>
        </p:txBody>
      </p:sp>
      <p:pic>
        <p:nvPicPr>
          <p:cNvPr id="57" name="影像" descr="影像"/>
          <p:cNvPicPr>
            <a:picLocks noChangeAspect="1"/>
          </p:cNvPicPr>
          <p:nvPr/>
        </p:nvPicPr>
        <p:blipFill>
          <a:blip r:embed="rId2">
            <a:extLst/>
          </a:blip>
          <a:srcRect l="0" t="0" r="0" b="8554"/>
          <a:stretch>
            <a:fillRect/>
          </a:stretch>
        </p:blipFill>
        <p:spPr>
          <a:xfrm>
            <a:off x="706955" y="2694977"/>
            <a:ext cx="7231677" cy="11318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Gemini 提示詞（英文版）</a:t>
            </a:r>
          </a:p>
        </p:txBody>
      </p:sp>
      <p:sp>
        <p:nvSpPr>
          <p:cNvPr id="61" name="Shape 2"/>
          <p:cNvSpPr/>
          <p:nvPr/>
        </p:nvSpPr>
        <p:spPr>
          <a:xfrm>
            <a:off x="365759" y="932688"/>
            <a:ext cx="8412482" cy="4133089"/>
          </a:xfrm>
          <a:prstGeom prst="rect">
            <a:avLst/>
          </a:prstGeom>
          <a:solidFill>
            <a:srgbClr val="12121E"/>
          </a:solidFill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Shape 3"/>
          <p:cNvSpPr/>
          <p:nvPr/>
        </p:nvSpPr>
        <p:spPr>
          <a:xfrm>
            <a:off x="365759" y="932688"/>
            <a:ext cx="8412482" cy="274321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4"/>
          <p:cNvSpPr txBox="1"/>
          <p:nvPr/>
        </p:nvSpPr>
        <p:spPr>
          <a:xfrm>
            <a:off x="502919" y="987297"/>
            <a:ext cx="4572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prompt_en.md</a:t>
            </a:r>
          </a:p>
        </p:txBody>
      </p:sp>
      <p:sp>
        <p:nvSpPr>
          <p:cNvPr id="64" name="Text 5"/>
          <p:cNvSpPr txBox="1"/>
          <p:nvPr/>
        </p:nvSpPr>
        <p:spPr>
          <a:xfrm>
            <a:off x="502919" y="1252727"/>
            <a:ext cx="8229601" cy="363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You are helping me import context from one AI assistant to another. Your job is to go through our past conversations and sum up what you know about me.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</a:t>
            </a:r>
          </a:p>
          <a:p>
            <a:pPr>
              <a:defRPr sz="900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In the output, please avoid using any first-person pronouns (I, my, me, mine) and any second-person pronouns (you, your, yours). Instead, refer to the individual you have learned about as “the user” or use neutral phrasing.</a:t>
            </a:r>
          </a:p>
          <a:p>
            <a:pPr>
              <a:defRPr sz="900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Preserve the user’s words verbatim where possible, especially for instructions and preferences.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</a:t>
            </a:r>
          </a:p>
          <a:p>
            <a: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Categories (output in this order):</a:t>
            </a:r>
          </a:p>
          <a:p>
            <a:pPr>
              <a:defRPr sz="900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1. Demographics Information: Preferred names, profession, education, and general residence.</a:t>
            </a:r>
          </a:p>
          <a:p>
            <a:pPr>
              <a:defRPr sz="900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2. Interests &amp; Preferences: Sustained, active engagements (not just owning an object or a one-time purchase).</a:t>
            </a:r>
          </a:p>
          <a:p>
            <a:pPr>
              <a:defRPr sz="900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3. Relationships: Confirmed, sustained relationships.</a:t>
            </a:r>
          </a:p>
          <a:p>
            <a:pPr>
              <a:defRPr sz="900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4. Dated Events, Projects &amp; Plans: A log of significant, recent activities.</a:t>
            </a:r>
          </a:p>
          <a:p>
            <a:pPr>
              <a:defRPr sz="900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5. Instructions: Rules I’ve explicitly asked you to follow going forward, “always do X”, “never do Y”, and corrections to your behavior. Only include rules from stored memories, not from conversations.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</a:t>
            </a:r>
          </a:p>
          <a:p>
            <a: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Format: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Divide the content into the labeled section using the categories above. Try to include verbatim quotes from my prompts that justify each entry. Structure each entry using this format: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* The user’s name is &lt;name&gt;.</a:t>
            </a:r>
          </a:p>
          <a:p>
            <a:pPr>
              <a:defRPr sz="900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* Evidence: User said “call me &lt;name&gt;”. Date: [YYYY-MM-DD].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</a:t>
            </a:r>
          </a:p>
          <a:p>
            <a: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Output:</a:t>
            </a:r>
          </a:p>
          <a:p>
            <a:pPr>
              <a:defRPr sz="900">
                <a:solidFill>
                  <a:srgbClr val="F9C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- Output ONLY the requested information. Do not include any conversational filler, intro text, or sign-offs.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</a:t>
            </a:r>
          </a:p>
          <a:p>
            <a:pPr>
              <a:defRPr sz="900">
                <a:solidFill>
                  <a:srgbClr val="F9C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Finally, complete the sentence “Imported from: &lt;name&gt;”, where name is ChatGPT, Claude, Grok, etc. This must be the absolute final text in your response.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Gemini 提示詞（中文版）</a:t>
            </a:r>
          </a:p>
        </p:txBody>
      </p:sp>
      <p:sp>
        <p:nvSpPr>
          <p:cNvPr id="68" name="Shape 2"/>
          <p:cNvSpPr/>
          <p:nvPr/>
        </p:nvSpPr>
        <p:spPr>
          <a:xfrm>
            <a:off x="365759" y="932688"/>
            <a:ext cx="8412482" cy="4133089"/>
          </a:xfrm>
          <a:prstGeom prst="rect">
            <a:avLst/>
          </a:prstGeom>
          <a:solidFill>
            <a:srgbClr val="12121E"/>
          </a:solidFill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Shape 3"/>
          <p:cNvSpPr/>
          <p:nvPr/>
        </p:nvSpPr>
        <p:spPr>
          <a:xfrm>
            <a:off x="365759" y="932688"/>
            <a:ext cx="8412482" cy="274321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4"/>
          <p:cNvSpPr txBox="1"/>
          <p:nvPr/>
        </p:nvSpPr>
        <p:spPr>
          <a:xfrm>
            <a:off x="502919" y="987297"/>
            <a:ext cx="4572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prompt_zh.md</a:t>
            </a:r>
          </a:p>
        </p:txBody>
      </p:sp>
      <p:sp>
        <p:nvSpPr>
          <p:cNvPr id="71" name="Text 5"/>
          <p:cNvSpPr txBox="1"/>
          <p:nvPr/>
        </p:nvSpPr>
        <p:spPr>
          <a:xfrm>
            <a:off x="502919" y="1252727"/>
            <a:ext cx="7984481" cy="334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幫我把 AI 助理的脈絡資料匯入另一個 AI 助理。你的工作是瀏覽我們過去的對話，然後總結你對我的瞭解。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</a:t>
            </a:r>
          </a:p>
          <a:p>
            <a:pPr>
              <a:defRPr sz="900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請勿在輸出內容中使用第一人稱代名詞 (我、我的) 和第二人稱代名詞 (你、你的)，而是改用「使用者」或中性用語，稱呼你從資料中瞭解的這個對象。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</a:t>
            </a:r>
          </a:p>
          <a:p>
            <a:pPr>
              <a:defRPr sz="900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盡可能保留使用者說的每一字句，特別是指令與偏好設定。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</a:t>
            </a:r>
          </a:p>
          <a:p>
            <a: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類別 (照以下順序輸出)：</a:t>
            </a:r>
          </a:p>
          <a:p>
            <a:pPr>
              <a:defRPr sz="900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1. 使用者資訊：慣用名稱、職業、教育程度和居住地。</a:t>
            </a:r>
          </a:p>
          <a:p>
            <a:pPr>
              <a:defRPr sz="900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2. 興趣與偏好：持續積極參與的活動 (不只是擁有某個物品或購買過一次的東西)。</a:t>
            </a:r>
          </a:p>
          <a:p>
            <a:pPr>
              <a:defRPr sz="900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3. 關係：已確認的長期關係。</a:t>
            </a:r>
          </a:p>
          <a:p>
            <a:pPr>
              <a:defRPr sz="900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4. 標註日期的事件、專案與計畫：近期重大活動的記錄。</a:t>
            </a:r>
          </a:p>
          <a:p>
            <a:pPr>
              <a:defRPr sz="900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5. 指令：我明確要求你在之後遵守的規則，包括「哪些一定要做」、「哪些絕對不能做」，以及對你之前行為的更正。僅納入個人化記憶中的規則，不含對話內容。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</a:t>
            </a:r>
          </a:p>
          <a:p>
            <a: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格式：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將內容依上述類別分段。盡量引用我在提示詞說過的原話，證明你總結的各個項目。按照下列格式建立各個項目：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使用者的名字是&lt;name&gt;。</a:t>
            </a:r>
          </a:p>
          <a:p>
            <a:pPr>
              <a:defRPr sz="900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- 證據：使用者說「叫我&lt;name&gt;」。日期：[YYYY-MM-DD]。</a:t>
            </a:r>
          </a:p>
          <a:p>
            <a: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</a:t>
            </a:r>
          </a:p>
          <a:p>
            <a: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輸出內容：</a:t>
            </a:r>
          </a:p>
          <a:p>
            <a:pPr>
              <a:defRPr sz="900">
                <a:solidFill>
                  <a:srgbClr val="F9C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- 將最終輸出摘要的格式設為文字區塊。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CLAUDE.md的12 條規則</a:t>
            </a:r>
          </a:p>
        </p:txBody>
      </p:sp>
      <p:sp>
        <p:nvSpPr>
          <p:cNvPr id="75" name="Shape 2"/>
          <p:cNvSpPr/>
          <p:nvPr/>
        </p:nvSpPr>
        <p:spPr>
          <a:xfrm>
            <a:off x="1188719" y="2240279"/>
            <a:ext cx="6766561" cy="1"/>
          </a:xfrm>
          <a:prstGeom prst="line">
            <a:avLst/>
          </a:prstGeom>
          <a:ln w="25400">
            <a:solidFill>
              <a:srgbClr val="D0DC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hape 3"/>
          <p:cNvSpPr/>
          <p:nvPr/>
        </p:nvSpPr>
        <p:spPr>
          <a:xfrm>
            <a:off x="932688" y="1993392"/>
            <a:ext cx="502921" cy="502921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4"/>
          <p:cNvSpPr txBox="1"/>
          <p:nvPr/>
        </p:nvSpPr>
        <p:spPr>
          <a:xfrm>
            <a:off x="182880" y="1366774"/>
            <a:ext cx="201167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E6394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2026 年 1 月</a:t>
            </a:r>
          </a:p>
        </p:txBody>
      </p:sp>
      <p:sp>
        <p:nvSpPr>
          <p:cNvPr id="78" name="Text 5"/>
          <p:cNvSpPr txBox="1"/>
          <p:nvPr/>
        </p:nvSpPr>
        <p:spPr>
          <a:xfrm>
            <a:off x="178308" y="1588008"/>
            <a:ext cx="20116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Andrej Karpathy</a:t>
            </a:r>
          </a:p>
        </p:txBody>
      </p:sp>
      <p:sp>
        <p:nvSpPr>
          <p:cNvPr id="79" name="Text 6"/>
          <p:cNvSpPr txBox="1"/>
          <p:nvPr/>
        </p:nvSpPr>
        <p:spPr>
          <a:xfrm>
            <a:off x="178308" y="1760092"/>
            <a:ext cx="201168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A7075"/>
                </a:solidFill>
              </a:defRPr>
            </a:lvl1pPr>
          </a:lstStyle>
          <a:p>
            <a:pPr/>
            <a:r>
              <a:t>（OpenAI 共同創辦人）</a:t>
            </a:r>
          </a:p>
        </p:txBody>
      </p:sp>
      <p:sp>
        <p:nvSpPr>
          <p:cNvPr id="80" name="Shape 7"/>
          <p:cNvSpPr/>
          <p:nvPr/>
        </p:nvSpPr>
        <p:spPr>
          <a:xfrm>
            <a:off x="1188720" y="2496311"/>
            <a:ext cx="1" cy="201169"/>
          </a:xfrm>
          <a:prstGeom prst="line">
            <a:avLst/>
          </a:prstGeom>
          <a:ln w="12700">
            <a:solidFill>
              <a:srgbClr val="D0DC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Shape 8"/>
          <p:cNvSpPr/>
          <p:nvPr/>
        </p:nvSpPr>
        <p:spPr>
          <a:xfrm>
            <a:off x="137159" y="2697479"/>
            <a:ext cx="2103122" cy="224028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9"/>
          <p:cNvSpPr/>
          <p:nvPr/>
        </p:nvSpPr>
        <p:spPr>
          <a:xfrm>
            <a:off x="137159" y="2697479"/>
            <a:ext cx="2103122" cy="54865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0"/>
          <p:cNvSpPr txBox="1"/>
          <p:nvPr/>
        </p:nvSpPr>
        <p:spPr>
          <a:xfrm>
            <a:off x="320040" y="2902297"/>
            <a:ext cx="1737361" cy="1830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1C1C2E"/>
                </a:solidFill>
              </a:defRPr>
            </a:pPr>
            <a:r>
              <a:t>AI 遇到不確定時自行假設，不發問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1C1C2E"/>
                </a:solidFill>
              </a:defRPr>
            </a:pPr>
            <a:r>
              <a:t>AI 傾向以複雜架構解決可用簡單方式處理的問題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1C1C2E"/>
                </a:solidFill>
              </a:defRPr>
            </a:pPr>
            <a:r>
              <a:t>AI 順手「整理」周邊程式碼</a:t>
            </a:r>
          </a:p>
        </p:txBody>
      </p:sp>
      <p:sp>
        <p:nvSpPr>
          <p:cNvPr id="84" name="Shape 11"/>
          <p:cNvSpPr/>
          <p:nvPr/>
        </p:nvSpPr>
        <p:spPr>
          <a:xfrm>
            <a:off x="4315967" y="1993392"/>
            <a:ext cx="502921" cy="502921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12"/>
          <p:cNvSpPr txBox="1"/>
          <p:nvPr/>
        </p:nvSpPr>
        <p:spPr>
          <a:xfrm>
            <a:off x="3566159" y="1366774"/>
            <a:ext cx="20116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9C74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2026 年 2 月</a:t>
            </a:r>
          </a:p>
        </p:txBody>
      </p:sp>
      <p:sp>
        <p:nvSpPr>
          <p:cNvPr id="86" name="Text 13"/>
          <p:cNvSpPr txBox="1"/>
          <p:nvPr/>
        </p:nvSpPr>
        <p:spPr>
          <a:xfrm>
            <a:off x="3566159" y="1591564"/>
            <a:ext cx="20116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Forrest Chang</a:t>
            </a:r>
          </a:p>
        </p:txBody>
      </p:sp>
      <p:sp>
        <p:nvSpPr>
          <p:cNvPr id="87" name="Text 14"/>
          <p:cNvSpPr txBox="1"/>
          <p:nvPr/>
        </p:nvSpPr>
        <p:spPr>
          <a:xfrm>
            <a:off x="3566159" y="1744852"/>
            <a:ext cx="201168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A7075"/>
                </a:solidFill>
              </a:defRPr>
            </a:lvl1pPr>
          </a:lstStyle>
          <a:p>
            <a:pPr/>
            <a:r>
              <a:t>（軟體工程師）</a:t>
            </a:r>
          </a:p>
        </p:txBody>
      </p:sp>
      <p:sp>
        <p:nvSpPr>
          <p:cNvPr id="88" name="Shape 15"/>
          <p:cNvSpPr/>
          <p:nvPr/>
        </p:nvSpPr>
        <p:spPr>
          <a:xfrm>
            <a:off x="4571999" y="2496311"/>
            <a:ext cx="1" cy="201169"/>
          </a:xfrm>
          <a:prstGeom prst="line">
            <a:avLst/>
          </a:prstGeom>
          <a:ln w="12700">
            <a:solidFill>
              <a:srgbClr val="D0DC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16"/>
          <p:cNvSpPr/>
          <p:nvPr/>
        </p:nvSpPr>
        <p:spPr>
          <a:xfrm>
            <a:off x="3520440" y="2697479"/>
            <a:ext cx="2103121" cy="224028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17"/>
          <p:cNvSpPr/>
          <p:nvPr/>
        </p:nvSpPr>
        <p:spPr>
          <a:xfrm>
            <a:off x="3520440" y="2697479"/>
            <a:ext cx="2103121" cy="54865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18"/>
          <p:cNvSpPr txBox="1"/>
          <p:nvPr/>
        </p:nvSpPr>
        <p:spPr>
          <a:xfrm>
            <a:off x="3703320" y="3101379"/>
            <a:ext cx="1845122" cy="1432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1C1C2E"/>
                </a:solidFill>
              </a:defRPr>
            </a:pPr>
            <a:r>
              <a:t>整理為 4 條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CLAUDE.md</a:t>
            </a:r>
            <a:r>
              <a:t> 規則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1C1C2E"/>
                </a:solidFill>
              </a:defRPr>
            </a:pPr>
            <a:r>
              <a:t>錯誤率 41% → 11%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1C1C2E"/>
                </a:solidFill>
              </a:defRPr>
            </a:pPr>
            <a:r>
              <a:t>GitHub 斬獲逾 12 萬顆星</a:t>
            </a:r>
          </a:p>
        </p:txBody>
      </p:sp>
      <p:sp>
        <p:nvSpPr>
          <p:cNvPr id="92" name="Shape 19"/>
          <p:cNvSpPr/>
          <p:nvPr/>
        </p:nvSpPr>
        <p:spPr>
          <a:xfrm>
            <a:off x="7520939" y="1986597"/>
            <a:ext cx="502921" cy="502921"/>
          </a:xfrm>
          <a:prstGeom prst="ellipse">
            <a:avLst/>
          </a:prstGeom>
          <a:solidFill>
            <a:srgbClr val="2DC7A0"/>
          </a:solidFill>
          <a:ln w="12700">
            <a:solidFill>
              <a:srgbClr val="2DC7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20"/>
          <p:cNvSpPr txBox="1"/>
          <p:nvPr/>
        </p:nvSpPr>
        <p:spPr>
          <a:xfrm>
            <a:off x="6766559" y="1366774"/>
            <a:ext cx="20116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2DC7A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2026 年 5 月</a:t>
            </a:r>
          </a:p>
        </p:txBody>
      </p:sp>
      <p:sp>
        <p:nvSpPr>
          <p:cNvPr id="94" name="Text 21"/>
          <p:cNvSpPr txBox="1"/>
          <p:nvPr/>
        </p:nvSpPr>
        <p:spPr>
          <a:xfrm>
            <a:off x="6766559" y="1591564"/>
            <a:ext cx="20116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Mnimiy</a:t>
            </a:r>
          </a:p>
        </p:txBody>
      </p:sp>
      <p:sp>
        <p:nvSpPr>
          <p:cNvPr id="95" name="Text 22"/>
          <p:cNvSpPr txBox="1"/>
          <p:nvPr/>
        </p:nvSpPr>
        <p:spPr>
          <a:xfrm>
            <a:off x="6766559" y="1744852"/>
            <a:ext cx="201168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5A7075"/>
                </a:solidFill>
              </a:defRPr>
            </a:lvl1pPr>
          </a:lstStyle>
          <a:p>
            <a:pPr/>
            <a:r>
              <a:t>（資深 AI 工程師）</a:t>
            </a:r>
          </a:p>
        </p:txBody>
      </p:sp>
      <p:sp>
        <p:nvSpPr>
          <p:cNvPr id="96" name="Shape 23"/>
          <p:cNvSpPr/>
          <p:nvPr/>
        </p:nvSpPr>
        <p:spPr>
          <a:xfrm>
            <a:off x="7772400" y="2496311"/>
            <a:ext cx="1" cy="201169"/>
          </a:xfrm>
          <a:prstGeom prst="line">
            <a:avLst/>
          </a:prstGeom>
          <a:ln w="12700">
            <a:solidFill>
              <a:srgbClr val="D0DC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Shape 24"/>
          <p:cNvSpPr/>
          <p:nvPr/>
        </p:nvSpPr>
        <p:spPr>
          <a:xfrm>
            <a:off x="6720840" y="2697479"/>
            <a:ext cx="2103121" cy="224028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Shape 25"/>
          <p:cNvSpPr/>
          <p:nvPr/>
        </p:nvSpPr>
        <p:spPr>
          <a:xfrm>
            <a:off x="6720840" y="2697479"/>
            <a:ext cx="2103121" cy="54865"/>
          </a:xfrm>
          <a:prstGeom prst="rect">
            <a:avLst/>
          </a:prstGeom>
          <a:solidFill>
            <a:srgbClr val="2DC7A0"/>
          </a:solidFill>
          <a:ln w="12700">
            <a:solidFill>
              <a:srgbClr val="2DC7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26"/>
          <p:cNvSpPr txBox="1"/>
          <p:nvPr/>
        </p:nvSpPr>
        <p:spPr>
          <a:xfrm>
            <a:off x="6903719" y="3350914"/>
            <a:ext cx="1845122" cy="933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1C1C2E"/>
                </a:solidFill>
              </a:defRPr>
            </a:pPr>
            <a:r>
              <a:t>六週 × 30 個專案實測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1C1C2E"/>
                </a:solidFill>
              </a:defRPr>
            </a:pPr>
            <a:r>
              <a:t>新增 8 條規則</a:t>
            </a:r>
          </a:p>
          <a:p>
            <a:pPr marL="342900" indent="-342900">
              <a:spcBef>
                <a:spcPts val="500"/>
              </a:spcBef>
              <a:buSzPct val="100000"/>
              <a:buChar char="•"/>
              <a:defRPr sz="1200">
                <a:solidFill>
                  <a:srgbClr val="1C1C2E"/>
                </a:solidFill>
              </a:defRPr>
            </a:pPr>
            <a:r>
              <a:t>錯誤率 11% → 3%</a:t>
            </a:r>
          </a:p>
        </p:txBody>
      </p:sp>
      <p:pic>
        <p:nvPicPr>
          <p:cNvPr id="100" name="截圖 2026-05-24 晚上10.40.15.png" descr="截圖 2026-05-24 晚上10.40.15.png">
            <a:hlinkClick r:id="rId3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16858" y="269541"/>
            <a:ext cx="2216669" cy="9408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 條核心規則</a:t>
            </a:r>
          </a:p>
        </p:txBody>
      </p:sp>
      <p:sp>
        <p:nvSpPr>
          <p:cNvPr id="104" name="Text 2"/>
          <p:cNvSpPr txBox="1"/>
          <p:nvPr/>
        </p:nvSpPr>
        <p:spPr>
          <a:xfrm>
            <a:off x="5486400" y="401251"/>
            <a:ext cx="338328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300">
                <a:solidFill>
                  <a:srgbClr val="5A7075"/>
                </a:solidFill>
              </a:defRPr>
            </a:pPr>
            <a:r>
              <a:rPr b="1"/>
              <a:t>Karpathy × Chang </a:t>
            </a:r>
            <a:r>
              <a:t> |  41% → 11%</a:t>
            </a:r>
          </a:p>
        </p:txBody>
      </p:sp>
      <p:sp>
        <p:nvSpPr>
          <p:cNvPr id="105" name="Shape 3"/>
          <p:cNvSpPr/>
          <p:nvPr/>
        </p:nvSpPr>
        <p:spPr>
          <a:xfrm>
            <a:off x="365759" y="960119"/>
            <a:ext cx="4206242" cy="187452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" name="Shape 4"/>
          <p:cNvSpPr/>
          <p:nvPr/>
        </p:nvSpPr>
        <p:spPr>
          <a:xfrm>
            <a:off x="530351" y="1234439"/>
            <a:ext cx="530353" cy="530353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5"/>
          <p:cNvSpPr txBox="1"/>
          <p:nvPr/>
        </p:nvSpPr>
        <p:spPr>
          <a:xfrm>
            <a:off x="530351" y="1372615"/>
            <a:ext cx="53035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8" name="Text 6"/>
          <p:cNvSpPr txBox="1"/>
          <p:nvPr/>
        </p:nvSpPr>
        <p:spPr>
          <a:xfrm>
            <a:off x="1188719" y="1425701"/>
            <a:ext cx="3246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Think Before Coding</a:t>
            </a:r>
          </a:p>
        </p:txBody>
      </p:sp>
      <p:sp>
        <p:nvSpPr>
          <p:cNvPr id="109" name="Text 7"/>
          <p:cNvSpPr txBox="1"/>
          <p:nvPr/>
        </p:nvSpPr>
        <p:spPr>
          <a:xfrm>
            <a:off x="576071" y="1983232"/>
            <a:ext cx="384048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A7075"/>
                </a:solidFill>
              </a:defRPr>
            </a:lvl1pPr>
          </a:lstStyle>
          <a:p>
            <a:pPr/>
            <a:r>
              <a:t>先釐清假設與模糊處，遇到不確定就停下來發問，絕不盲目猜測或替使用者做決定；有更簡單的解法主動提出</a:t>
            </a:r>
          </a:p>
        </p:txBody>
      </p:sp>
      <p:sp>
        <p:nvSpPr>
          <p:cNvPr id="110" name="Shape 8"/>
          <p:cNvSpPr/>
          <p:nvPr/>
        </p:nvSpPr>
        <p:spPr>
          <a:xfrm>
            <a:off x="4813300" y="960119"/>
            <a:ext cx="4206241" cy="187452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1" name="Shape 9"/>
          <p:cNvSpPr/>
          <p:nvPr/>
        </p:nvSpPr>
        <p:spPr>
          <a:xfrm>
            <a:off x="4965191" y="1234439"/>
            <a:ext cx="530353" cy="530353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10"/>
          <p:cNvSpPr txBox="1"/>
          <p:nvPr/>
        </p:nvSpPr>
        <p:spPr>
          <a:xfrm>
            <a:off x="4965191" y="1372615"/>
            <a:ext cx="53035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3" name="Text 11"/>
          <p:cNvSpPr txBox="1"/>
          <p:nvPr/>
        </p:nvSpPr>
        <p:spPr>
          <a:xfrm>
            <a:off x="5623559" y="1413001"/>
            <a:ext cx="32461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Simplicity First</a:t>
            </a:r>
          </a:p>
        </p:txBody>
      </p:sp>
      <p:sp>
        <p:nvSpPr>
          <p:cNvPr id="114" name="Text 12"/>
          <p:cNvSpPr txBox="1"/>
          <p:nvPr/>
        </p:nvSpPr>
        <p:spPr>
          <a:xfrm>
            <a:off x="5010911" y="1983232"/>
            <a:ext cx="384048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A7075"/>
                </a:solidFill>
              </a:defRPr>
            </a:lvl1pPr>
          </a:lstStyle>
          <a:p>
            <a:pPr/>
            <a:r>
              <a:t>最少程式碼解決問題，嚴拒過度工程化、推測未來需求的功能或不必要的抽象層</a:t>
            </a:r>
          </a:p>
        </p:txBody>
      </p:sp>
      <p:sp>
        <p:nvSpPr>
          <p:cNvPr id="115" name="Shape 13"/>
          <p:cNvSpPr/>
          <p:nvPr/>
        </p:nvSpPr>
        <p:spPr>
          <a:xfrm>
            <a:off x="365759" y="2971800"/>
            <a:ext cx="4206242" cy="187452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" name="Shape 14"/>
          <p:cNvSpPr/>
          <p:nvPr/>
        </p:nvSpPr>
        <p:spPr>
          <a:xfrm>
            <a:off x="530351" y="3246120"/>
            <a:ext cx="530353" cy="530353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5"/>
          <p:cNvSpPr txBox="1"/>
          <p:nvPr/>
        </p:nvSpPr>
        <p:spPr>
          <a:xfrm>
            <a:off x="530351" y="3384296"/>
            <a:ext cx="53035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8" name="Text 16"/>
          <p:cNvSpPr txBox="1"/>
          <p:nvPr/>
        </p:nvSpPr>
        <p:spPr>
          <a:xfrm>
            <a:off x="1188719" y="3411982"/>
            <a:ext cx="32461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Surgical Changes</a:t>
            </a:r>
          </a:p>
        </p:txBody>
      </p:sp>
      <p:sp>
        <p:nvSpPr>
          <p:cNvPr id="119" name="Text 17"/>
          <p:cNvSpPr txBox="1"/>
          <p:nvPr/>
        </p:nvSpPr>
        <p:spPr>
          <a:xfrm>
            <a:off x="576071" y="4102861"/>
            <a:ext cx="384048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A7075"/>
                </a:solidFill>
              </a:defRPr>
            </a:lvl1pPr>
          </a:lstStyle>
          <a:p>
            <a:pPr/>
            <a:r>
              <a:t>只動與需求直接相關的範圍，絕不順手改善周邊程式碼</a:t>
            </a:r>
          </a:p>
        </p:txBody>
      </p:sp>
      <p:sp>
        <p:nvSpPr>
          <p:cNvPr id="120" name="Shape 18"/>
          <p:cNvSpPr/>
          <p:nvPr/>
        </p:nvSpPr>
        <p:spPr>
          <a:xfrm>
            <a:off x="4800600" y="2971800"/>
            <a:ext cx="4206241" cy="187452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" name="Shape 19"/>
          <p:cNvSpPr/>
          <p:nvPr/>
        </p:nvSpPr>
        <p:spPr>
          <a:xfrm>
            <a:off x="4965191" y="3246120"/>
            <a:ext cx="530353" cy="530353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20"/>
          <p:cNvSpPr txBox="1"/>
          <p:nvPr/>
        </p:nvSpPr>
        <p:spPr>
          <a:xfrm>
            <a:off x="4965191" y="3384296"/>
            <a:ext cx="53035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3" name="Text 21"/>
          <p:cNvSpPr txBox="1"/>
          <p:nvPr/>
        </p:nvSpPr>
        <p:spPr>
          <a:xfrm>
            <a:off x="5623559" y="3437382"/>
            <a:ext cx="32461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Goal-Driven Execution</a:t>
            </a:r>
          </a:p>
        </p:txBody>
      </p:sp>
      <p:sp>
        <p:nvSpPr>
          <p:cNvPr id="124" name="Text 22"/>
          <p:cNvSpPr txBox="1"/>
          <p:nvPr/>
        </p:nvSpPr>
        <p:spPr>
          <a:xfrm>
            <a:off x="5010911" y="3855211"/>
            <a:ext cx="3840481" cy="92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5A7075"/>
                </a:solidFill>
              </a:defRPr>
            </a:lvl1pPr>
          </a:lstStyle>
          <a:p>
            <a:pPr/>
            <a:r>
              <a:t>將任務轉化為可驗證的具體目標（例如：寫出測試並讓它通過），為多步驟任務建立帶有檢查點的計畫，讓 AI 能基於明確的成功標準自主迭代到完成。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新增 8 條規則</a:t>
            </a:r>
          </a:p>
        </p:txBody>
      </p:sp>
      <p:sp>
        <p:nvSpPr>
          <p:cNvPr id="128" name="Text 2"/>
          <p:cNvSpPr txBox="1"/>
          <p:nvPr/>
        </p:nvSpPr>
        <p:spPr>
          <a:xfrm>
            <a:off x="5943600" y="401251"/>
            <a:ext cx="292608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r">
              <a:defRPr sz="1300">
                <a:solidFill>
                  <a:srgbClr val="5A7075"/>
                </a:solidFill>
              </a:defRPr>
            </a:pPr>
            <a:r>
              <a:rPr b="1"/>
              <a:t>Mnimiy</a:t>
            </a:r>
            <a:r>
              <a:t>  |  11% → 3%</a:t>
            </a:r>
          </a:p>
        </p:txBody>
      </p:sp>
      <p:sp>
        <p:nvSpPr>
          <p:cNvPr id="129" name="Shape 3"/>
          <p:cNvSpPr/>
          <p:nvPr/>
        </p:nvSpPr>
        <p:spPr>
          <a:xfrm>
            <a:off x="365759" y="1033272"/>
            <a:ext cx="365762" cy="36576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4"/>
          <p:cNvSpPr txBox="1"/>
          <p:nvPr/>
        </p:nvSpPr>
        <p:spPr>
          <a:xfrm>
            <a:off x="365759" y="1127252"/>
            <a:ext cx="36576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1" name="Text 5"/>
          <p:cNvSpPr txBox="1"/>
          <p:nvPr/>
        </p:nvSpPr>
        <p:spPr>
          <a:xfrm>
            <a:off x="822960" y="1099819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Use the model only for judgment calls</a:t>
            </a:r>
          </a:p>
        </p:txBody>
      </p:sp>
      <p:sp>
        <p:nvSpPr>
          <p:cNvPr id="132" name="Text 6"/>
          <p:cNvSpPr txBox="1"/>
          <p:nvPr/>
        </p:nvSpPr>
        <p:spPr>
          <a:xfrm>
            <a:off x="822960" y="1498600"/>
            <a:ext cx="38404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分類、摘要 OK；Routing、if-else 交給程式碼</a:t>
            </a:r>
          </a:p>
        </p:txBody>
      </p:sp>
      <p:sp>
        <p:nvSpPr>
          <p:cNvPr id="133" name="Shape 7"/>
          <p:cNvSpPr/>
          <p:nvPr/>
        </p:nvSpPr>
        <p:spPr>
          <a:xfrm>
            <a:off x="365759" y="1929383"/>
            <a:ext cx="4114801" cy="1"/>
          </a:xfrm>
          <a:prstGeom prst="line">
            <a:avLst/>
          </a:prstGeom>
          <a:ln w="6350">
            <a:solidFill>
              <a:srgbClr val="D8E4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Shape 8"/>
          <p:cNvSpPr/>
          <p:nvPr/>
        </p:nvSpPr>
        <p:spPr>
          <a:xfrm>
            <a:off x="365759" y="2066544"/>
            <a:ext cx="365762" cy="36576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9"/>
          <p:cNvSpPr txBox="1"/>
          <p:nvPr/>
        </p:nvSpPr>
        <p:spPr>
          <a:xfrm>
            <a:off x="365759" y="2160523"/>
            <a:ext cx="36576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6" name="Text 10"/>
          <p:cNvSpPr txBox="1"/>
          <p:nvPr/>
        </p:nvSpPr>
        <p:spPr>
          <a:xfrm>
            <a:off x="822960" y="2133091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Token budgets are not advisory</a:t>
            </a:r>
          </a:p>
        </p:txBody>
      </p:sp>
      <p:sp>
        <p:nvSpPr>
          <p:cNvPr id="137" name="Text 11"/>
          <p:cNvSpPr txBox="1"/>
          <p:nvPr/>
        </p:nvSpPr>
        <p:spPr>
          <a:xfrm>
            <a:off x="822960" y="2531872"/>
            <a:ext cx="38404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4K/task、30K/session，快超出就重開，不要無聲超用</a:t>
            </a:r>
          </a:p>
        </p:txBody>
      </p:sp>
      <p:sp>
        <p:nvSpPr>
          <p:cNvPr id="138" name="Shape 12"/>
          <p:cNvSpPr/>
          <p:nvPr/>
        </p:nvSpPr>
        <p:spPr>
          <a:xfrm>
            <a:off x="365759" y="2962655"/>
            <a:ext cx="4114801" cy="1"/>
          </a:xfrm>
          <a:prstGeom prst="line">
            <a:avLst/>
          </a:prstGeom>
          <a:ln w="6350">
            <a:solidFill>
              <a:srgbClr val="D8E4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Shape 13"/>
          <p:cNvSpPr/>
          <p:nvPr/>
        </p:nvSpPr>
        <p:spPr>
          <a:xfrm>
            <a:off x="365759" y="3099816"/>
            <a:ext cx="365762" cy="36576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14"/>
          <p:cNvSpPr txBox="1"/>
          <p:nvPr/>
        </p:nvSpPr>
        <p:spPr>
          <a:xfrm>
            <a:off x="365759" y="3193796"/>
            <a:ext cx="36576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41" name="Text 15"/>
          <p:cNvSpPr txBox="1"/>
          <p:nvPr/>
        </p:nvSpPr>
        <p:spPr>
          <a:xfrm>
            <a:off x="822960" y="3166364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Surface conflicts, don't average them</a:t>
            </a:r>
          </a:p>
        </p:txBody>
      </p:sp>
      <p:sp>
        <p:nvSpPr>
          <p:cNvPr id="142" name="Text 16"/>
          <p:cNvSpPr txBox="1"/>
          <p:nvPr/>
        </p:nvSpPr>
        <p:spPr>
          <a:xfrm>
            <a:off x="822960" y="3565144"/>
            <a:ext cx="38404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兩種寫法衝突時，選一種說明理由，不要折衷混用</a:t>
            </a:r>
          </a:p>
        </p:txBody>
      </p:sp>
      <p:sp>
        <p:nvSpPr>
          <p:cNvPr id="143" name="Shape 17"/>
          <p:cNvSpPr/>
          <p:nvPr/>
        </p:nvSpPr>
        <p:spPr>
          <a:xfrm>
            <a:off x="365759" y="3995928"/>
            <a:ext cx="4114801" cy="1"/>
          </a:xfrm>
          <a:prstGeom prst="line">
            <a:avLst/>
          </a:prstGeom>
          <a:ln w="6350">
            <a:solidFill>
              <a:srgbClr val="D8E4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18"/>
          <p:cNvSpPr/>
          <p:nvPr/>
        </p:nvSpPr>
        <p:spPr>
          <a:xfrm>
            <a:off x="365759" y="4133088"/>
            <a:ext cx="365762" cy="36576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19"/>
          <p:cNvSpPr txBox="1"/>
          <p:nvPr/>
        </p:nvSpPr>
        <p:spPr>
          <a:xfrm>
            <a:off x="365759" y="4227067"/>
            <a:ext cx="36576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46" name="Text 20"/>
          <p:cNvSpPr txBox="1"/>
          <p:nvPr/>
        </p:nvSpPr>
        <p:spPr>
          <a:xfrm>
            <a:off x="822960" y="4199635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Read before you write</a:t>
            </a:r>
          </a:p>
        </p:txBody>
      </p:sp>
      <p:sp>
        <p:nvSpPr>
          <p:cNvPr id="147" name="Text 21"/>
          <p:cNvSpPr txBox="1"/>
          <p:nvPr/>
        </p:nvSpPr>
        <p:spPr>
          <a:xfrm>
            <a:off x="822960" y="4598415"/>
            <a:ext cx="38404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先理解周圍程式碼脈絡，再動手修改</a:t>
            </a:r>
          </a:p>
        </p:txBody>
      </p:sp>
      <p:sp>
        <p:nvSpPr>
          <p:cNvPr id="148" name="Shape 22"/>
          <p:cNvSpPr/>
          <p:nvPr/>
        </p:nvSpPr>
        <p:spPr>
          <a:xfrm>
            <a:off x="4800600" y="1033272"/>
            <a:ext cx="365761" cy="36576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23"/>
          <p:cNvSpPr txBox="1"/>
          <p:nvPr/>
        </p:nvSpPr>
        <p:spPr>
          <a:xfrm>
            <a:off x="4800600" y="1127252"/>
            <a:ext cx="3657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50" name="Text 24"/>
          <p:cNvSpPr txBox="1"/>
          <p:nvPr/>
        </p:nvSpPr>
        <p:spPr>
          <a:xfrm>
            <a:off x="5257800" y="1099819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Tests verify intent, not just behavior</a:t>
            </a:r>
          </a:p>
        </p:txBody>
      </p:sp>
      <p:sp>
        <p:nvSpPr>
          <p:cNvPr id="151" name="Text 25"/>
          <p:cNvSpPr txBox="1"/>
          <p:nvPr/>
        </p:nvSpPr>
        <p:spPr>
          <a:xfrm>
            <a:off x="5257800" y="1431466"/>
            <a:ext cx="3840480" cy="337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測試要測「邏輯」，不是只測「有回傳」</a:t>
            </a:r>
          </a:p>
        </p:txBody>
      </p:sp>
      <p:sp>
        <p:nvSpPr>
          <p:cNvPr id="152" name="Shape 26"/>
          <p:cNvSpPr/>
          <p:nvPr/>
        </p:nvSpPr>
        <p:spPr>
          <a:xfrm>
            <a:off x="4800600" y="1929383"/>
            <a:ext cx="4114800" cy="1"/>
          </a:xfrm>
          <a:prstGeom prst="line">
            <a:avLst/>
          </a:prstGeom>
          <a:ln w="6350">
            <a:solidFill>
              <a:srgbClr val="D8E4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Shape 27"/>
          <p:cNvSpPr/>
          <p:nvPr/>
        </p:nvSpPr>
        <p:spPr>
          <a:xfrm>
            <a:off x="4800600" y="2066544"/>
            <a:ext cx="365761" cy="36576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28"/>
          <p:cNvSpPr txBox="1"/>
          <p:nvPr/>
        </p:nvSpPr>
        <p:spPr>
          <a:xfrm>
            <a:off x="4800600" y="2160523"/>
            <a:ext cx="3657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55" name="Text 29"/>
          <p:cNvSpPr txBox="1"/>
          <p:nvPr/>
        </p:nvSpPr>
        <p:spPr>
          <a:xfrm>
            <a:off x="5257800" y="2133091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Checkpoint after every significant step</a:t>
            </a:r>
          </a:p>
        </p:txBody>
      </p:sp>
      <p:sp>
        <p:nvSpPr>
          <p:cNvPr id="156" name="Text 30"/>
          <p:cNvSpPr txBox="1"/>
          <p:nvPr/>
        </p:nvSpPr>
        <p:spPr>
          <a:xfrm>
            <a:off x="5257800" y="2531872"/>
            <a:ext cx="38404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多步驟任務，每步確認狀態，防止後續錯誤累積</a:t>
            </a:r>
          </a:p>
        </p:txBody>
      </p:sp>
      <p:sp>
        <p:nvSpPr>
          <p:cNvPr id="157" name="Shape 31"/>
          <p:cNvSpPr/>
          <p:nvPr/>
        </p:nvSpPr>
        <p:spPr>
          <a:xfrm>
            <a:off x="4800600" y="2962655"/>
            <a:ext cx="4114800" cy="1"/>
          </a:xfrm>
          <a:prstGeom prst="line">
            <a:avLst/>
          </a:prstGeom>
          <a:ln w="6350">
            <a:solidFill>
              <a:srgbClr val="D8E4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Shape 32"/>
          <p:cNvSpPr/>
          <p:nvPr/>
        </p:nvSpPr>
        <p:spPr>
          <a:xfrm>
            <a:off x="4800600" y="3099816"/>
            <a:ext cx="365761" cy="36576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33"/>
          <p:cNvSpPr txBox="1"/>
          <p:nvPr/>
        </p:nvSpPr>
        <p:spPr>
          <a:xfrm>
            <a:off x="4800600" y="3193796"/>
            <a:ext cx="3657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60" name="Text 34"/>
          <p:cNvSpPr txBox="1"/>
          <p:nvPr/>
        </p:nvSpPr>
        <p:spPr>
          <a:xfrm>
            <a:off x="5257800" y="3166364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Match the codebase's conventions, even if disagree</a:t>
            </a:r>
          </a:p>
        </p:txBody>
      </p:sp>
      <p:sp>
        <p:nvSpPr>
          <p:cNvPr id="161" name="Text 35"/>
          <p:cNvSpPr txBox="1"/>
          <p:nvPr/>
        </p:nvSpPr>
        <p:spPr>
          <a:xfrm>
            <a:off x="5257800" y="3565144"/>
            <a:ext cx="38404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舊有一致性 &gt; AI個人新審美，不偷偷引入新風格</a:t>
            </a:r>
          </a:p>
        </p:txBody>
      </p:sp>
      <p:sp>
        <p:nvSpPr>
          <p:cNvPr id="162" name="Shape 36"/>
          <p:cNvSpPr/>
          <p:nvPr/>
        </p:nvSpPr>
        <p:spPr>
          <a:xfrm>
            <a:off x="4800600" y="3995928"/>
            <a:ext cx="4114800" cy="1"/>
          </a:xfrm>
          <a:prstGeom prst="line">
            <a:avLst/>
          </a:prstGeom>
          <a:ln w="6350">
            <a:solidFill>
              <a:srgbClr val="D8E4E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37"/>
          <p:cNvSpPr/>
          <p:nvPr/>
        </p:nvSpPr>
        <p:spPr>
          <a:xfrm>
            <a:off x="4800600" y="4133088"/>
            <a:ext cx="365761" cy="36576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38"/>
          <p:cNvSpPr txBox="1"/>
          <p:nvPr/>
        </p:nvSpPr>
        <p:spPr>
          <a:xfrm>
            <a:off x="4800600" y="4227067"/>
            <a:ext cx="3657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65" name="Text 39"/>
          <p:cNvSpPr txBox="1"/>
          <p:nvPr/>
        </p:nvSpPr>
        <p:spPr>
          <a:xfrm>
            <a:off x="5257800" y="4199635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Fail loud</a:t>
            </a:r>
          </a:p>
        </p:txBody>
      </p:sp>
      <p:sp>
        <p:nvSpPr>
          <p:cNvPr id="166" name="Text 40"/>
          <p:cNvSpPr txBox="1"/>
          <p:nvPr/>
        </p:nvSpPr>
        <p:spPr>
          <a:xfrm>
            <a:off x="5257800" y="4598415"/>
            <a:ext cx="38404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不確定就說，不裝成功、不默默跳過任何步驟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AI 編碼錯誤率大幅下降</a:t>
            </a:r>
          </a:p>
        </p:txBody>
      </p:sp>
      <p:sp>
        <p:nvSpPr>
          <p:cNvPr id="170" name="Shape 2"/>
          <p:cNvSpPr/>
          <p:nvPr/>
        </p:nvSpPr>
        <p:spPr>
          <a:xfrm>
            <a:off x="457200" y="1005839"/>
            <a:ext cx="2606040" cy="3520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  <a:effectLst>
            <a:outerShdw sx="100000" sy="100000" kx="0" ky="0" algn="b" rotWithShape="0" blurRad="101600" dist="381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" name="Shape 3"/>
          <p:cNvSpPr/>
          <p:nvPr/>
        </p:nvSpPr>
        <p:spPr>
          <a:xfrm>
            <a:off x="457200" y="1005839"/>
            <a:ext cx="2606040" cy="73153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4"/>
          <p:cNvSpPr txBox="1"/>
          <p:nvPr/>
        </p:nvSpPr>
        <p:spPr>
          <a:xfrm>
            <a:off x="548640" y="1532889"/>
            <a:ext cx="2423161" cy="100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800">
                <a:solidFill>
                  <a:srgbClr val="E6394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41%</a:t>
            </a:r>
          </a:p>
        </p:txBody>
      </p:sp>
      <p:sp>
        <p:nvSpPr>
          <p:cNvPr id="173" name="Text 5"/>
          <p:cNvSpPr txBox="1"/>
          <p:nvPr/>
        </p:nvSpPr>
        <p:spPr>
          <a:xfrm>
            <a:off x="548640" y="2929889"/>
            <a:ext cx="2423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原始錯誤率</a:t>
            </a:r>
          </a:p>
        </p:txBody>
      </p:sp>
      <p:sp>
        <p:nvSpPr>
          <p:cNvPr id="174" name="Text 6"/>
          <p:cNvSpPr txBox="1"/>
          <p:nvPr/>
        </p:nvSpPr>
        <p:spPr>
          <a:xfrm>
            <a:off x="548640" y="3481069"/>
            <a:ext cx="24231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5A7075"/>
                </a:solidFill>
              </a:defRPr>
            </a:lvl1pPr>
          </a:lstStyle>
          <a:p>
            <a:pPr/>
            <a:r>
              <a:t>無任何 CLAUDE.md 規範</a:t>
            </a:r>
          </a:p>
        </p:txBody>
      </p:sp>
      <p:sp>
        <p:nvSpPr>
          <p:cNvPr id="175" name="Shape 7"/>
          <p:cNvSpPr/>
          <p:nvPr/>
        </p:nvSpPr>
        <p:spPr>
          <a:xfrm>
            <a:off x="3127248" y="2331720"/>
            <a:ext cx="164593" cy="1"/>
          </a:xfrm>
          <a:prstGeom prst="line">
            <a:avLst/>
          </a:prstGeom>
          <a:ln w="25400">
            <a:solidFill>
              <a:srgbClr val="BBCD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Shape 8"/>
          <p:cNvSpPr/>
          <p:nvPr/>
        </p:nvSpPr>
        <p:spPr>
          <a:xfrm>
            <a:off x="3291840" y="1005839"/>
            <a:ext cx="2606041" cy="3520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  <a:effectLst>
            <a:outerShdw sx="100000" sy="100000" kx="0" ky="0" algn="b" rotWithShape="0" blurRad="101600" dist="381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" name="Shape 9"/>
          <p:cNvSpPr/>
          <p:nvPr/>
        </p:nvSpPr>
        <p:spPr>
          <a:xfrm>
            <a:off x="3291840" y="1005839"/>
            <a:ext cx="2606041" cy="73153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10"/>
          <p:cNvSpPr txBox="1"/>
          <p:nvPr/>
        </p:nvSpPr>
        <p:spPr>
          <a:xfrm>
            <a:off x="3383279" y="1532889"/>
            <a:ext cx="2423161" cy="100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800">
                <a:solidFill>
                  <a:srgbClr val="F9C74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11%</a:t>
            </a:r>
          </a:p>
        </p:txBody>
      </p:sp>
      <p:sp>
        <p:nvSpPr>
          <p:cNvPr id="179" name="Text 11"/>
          <p:cNvSpPr txBox="1"/>
          <p:nvPr/>
        </p:nvSpPr>
        <p:spPr>
          <a:xfrm>
            <a:off x="3383279" y="2929889"/>
            <a:ext cx="2423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 條規則後</a:t>
            </a:r>
          </a:p>
        </p:txBody>
      </p:sp>
      <p:sp>
        <p:nvSpPr>
          <p:cNvPr id="180" name="Text 12"/>
          <p:cNvSpPr txBox="1"/>
          <p:nvPr/>
        </p:nvSpPr>
        <p:spPr>
          <a:xfrm>
            <a:off x="3383279" y="3510586"/>
            <a:ext cx="24231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5A7075"/>
                </a:solidFill>
              </a:defRPr>
            </a:lvl1pPr>
          </a:lstStyle>
          <a:p>
            <a:pPr/>
            <a:r>
              <a:t>Karpathy × Chang 2026.02</a:t>
            </a:r>
          </a:p>
        </p:txBody>
      </p:sp>
      <p:sp>
        <p:nvSpPr>
          <p:cNvPr id="181" name="Shape 13"/>
          <p:cNvSpPr/>
          <p:nvPr/>
        </p:nvSpPr>
        <p:spPr>
          <a:xfrm>
            <a:off x="5961888" y="2331720"/>
            <a:ext cx="164593" cy="1"/>
          </a:xfrm>
          <a:prstGeom prst="line">
            <a:avLst/>
          </a:prstGeom>
          <a:ln w="25400">
            <a:solidFill>
              <a:srgbClr val="BBCD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Shape 14"/>
          <p:cNvSpPr/>
          <p:nvPr/>
        </p:nvSpPr>
        <p:spPr>
          <a:xfrm>
            <a:off x="6126479" y="1005839"/>
            <a:ext cx="2606041" cy="3520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  <a:effectLst>
            <a:outerShdw sx="100000" sy="100000" kx="0" ky="0" algn="b" rotWithShape="0" blurRad="101600" dist="381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" name="Shape 15"/>
          <p:cNvSpPr/>
          <p:nvPr/>
        </p:nvSpPr>
        <p:spPr>
          <a:xfrm>
            <a:off x="6126479" y="1005839"/>
            <a:ext cx="2606041" cy="73153"/>
          </a:xfrm>
          <a:prstGeom prst="rect">
            <a:avLst/>
          </a:prstGeom>
          <a:solidFill>
            <a:srgbClr val="2DC7A0"/>
          </a:solidFill>
          <a:ln w="12700">
            <a:solidFill>
              <a:srgbClr val="2DC7A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16"/>
          <p:cNvSpPr txBox="1"/>
          <p:nvPr/>
        </p:nvSpPr>
        <p:spPr>
          <a:xfrm>
            <a:off x="6217920" y="1532889"/>
            <a:ext cx="2423161" cy="100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6800">
                <a:solidFill>
                  <a:srgbClr val="2DC7A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3%</a:t>
            </a:r>
          </a:p>
        </p:txBody>
      </p:sp>
      <p:sp>
        <p:nvSpPr>
          <p:cNvPr id="185" name="Text 17"/>
          <p:cNvSpPr txBox="1"/>
          <p:nvPr/>
        </p:nvSpPr>
        <p:spPr>
          <a:xfrm>
            <a:off x="6217920" y="2929889"/>
            <a:ext cx="242316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12 條規則後</a:t>
            </a:r>
          </a:p>
        </p:txBody>
      </p:sp>
      <p:sp>
        <p:nvSpPr>
          <p:cNvPr id="186" name="Text 18"/>
          <p:cNvSpPr txBox="1"/>
          <p:nvPr/>
        </p:nvSpPr>
        <p:spPr>
          <a:xfrm>
            <a:off x="6217920" y="3481069"/>
            <a:ext cx="24231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5A7075"/>
                </a:solidFill>
              </a:defRPr>
            </a:lvl1pPr>
          </a:lstStyle>
          <a:p>
            <a:pPr/>
            <a:r>
              <a:t>Mnimiy 新增 8 條 2026.05</a:t>
            </a:r>
          </a:p>
        </p:txBody>
      </p:sp>
      <p:sp>
        <p:nvSpPr>
          <p:cNvPr id="187" name="Text 19"/>
          <p:cNvSpPr txBox="1"/>
          <p:nvPr/>
        </p:nvSpPr>
        <p:spPr>
          <a:xfrm>
            <a:off x="353059" y="4715510"/>
            <a:ext cx="84124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200">
                <a:solidFill>
                  <a:srgbClr val="5A7075"/>
                </a:solidFill>
              </a:defRPr>
            </a:pPr>
            <a:r>
              <a:t>錯誤率</a:t>
            </a:r>
            <a:r>
              <a:rPr i="0"/>
              <a:t>(</a:t>
            </a:r>
            <a:r>
              <a:rPr b="1" i="0"/>
              <a:t>Mistake rate</a:t>
            </a:r>
            <a:r>
              <a:rPr i="0"/>
              <a:t>)</a:t>
            </a:r>
            <a:r>
              <a:t>：task required correction or rewrite to match intent.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8466" y="-1"/>
            <a:ext cx="91441" cy="514350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1"/>
          <p:cNvSpPr txBox="1"/>
          <p:nvPr/>
        </p:nvSpPr>
        <p:spPr>
          <a:xfrm>
            <a:off x="365759" y="82295"/>
            <a:ext cx="8412482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破除「規則越多越失控」的遵循度迷思</a:t>
            </a:r>
          </a:p>
        </p:txBody>
      </p:sp>
      <p:pic>
        <p:nvPicPr>
          <p:cNvPr id="191" name="貼上的影片.png" descr="貼上的影片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46876" y="860434"/>
            <a:ext cx="6681124" cy="3758133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Text 19"/>
          <p:cNvSpPr txBox="1"/>
          <p:nvPr/>
        </p:nvSpPr>
        <p:spPr>
          <a:xfrm>
            <a:off x="365759" y="4728210"/>
            <a:ext cx="84124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1200">
                <a:solidFill>
                  <a:srgbClr val="5A7075"/>
                </a:solidFill>
              </a:defRPr>
            </a:pPr>
            <a:r>
              <a:t>遵循度</a:t>
            </a:r>
            <a:r>
              <a:rPr i="0"/>
              <a:t>(</a:t>
            </a:r>
            <a:r>
              <a:rPr b="1" i="0"/>
              <a:t>Compliance</a:t>
            </a:r>
            <a:r>
              <a:rPr i="0"/>
              <a:t>)</a:t>
            </a:r>
            <a:r>
              <a:t>： how often Claude visibly applied the relevant rule when it was applicable.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 txBox="1"/>
          <p:nvPr/>
        </p:nvSpPr>
        <p:spPr>
          <a:xfrm>
            <a:off x="365759" y="176784"/>
            <a:ext cx="841248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完整 CLAUDE.md 12-rule 模板（複製即用）</a:t>
            </a:r>
          </a:p>
        </p:txBody>
      </p:sp>
      <p:sp>
        <p:nvSpPr>
          <p:cNvPr id="195" name="Shape 1"/>
          <p:cNvSpPr/>
          <p:nvPr/>
        </p:nvSpPr>
        <p:spPr>
          <a:xfrm>
            <a:off x="365759" y="576072"/>
            <a:ext cx="8412482" cy="1"/>
          </a:xfrm>
          <a:prstGeom prst="line">
            <a:avLst/>
          </a:prstGeom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2"/>
          <p:cNvSpPr txBox="1"/>
          <p:nvPr/>
        </p:nvSpPr>
        <p:spPr>
          <a:xfrm>
            <a:off x="320040" y="672185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9C7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 CLAUDE.md — 12-rule template</a:t>
            </a:r>
          </a:p>
        </p:txBody>
      </p:sp>
      <p:sp>
        <p:nvSpPr>
          <p:cNvPr id="197" name="Text 3"/>
          <p:cNvSpPr txBox="1"/>
          <p:nvPr/>
        </p:nvSpPr>
        <p:spPr>
          <a:xfrm>
            <a:off x="320040" y="839520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These rules apply to every task unless explicitly overridden.</a:t>
            </a:r>
          </a:p>
        </p:txBody>
      </p:sp>
      <p:sp>
        <p:nvSpPr>
          <p:cNvPr id="198" name="Text 4"/>
          <p:cNvSpPr txBox="1"/>
          <p:nvPr/>
        </p:nvSpPr>
        <p:spPr>
          <a:xfrm>
            <a:off x="320040" y="1006855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99A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Bias: caution over speed on non-trivial work.</a:t>
            </a:r>
          </a:p>
        </p:txBody>
      </p:sp>
      <p:sp>
        <p:nvSpPr>
          <p:cNvPr id="199" name="Text 5"/>
          <p:cNvSpPr txBox="1"/>
          <p:nvPr/>
        </p:nvSpPr>
        <p:spPr>
          <a:xfrm>
            <a:off x="320040" y="1174191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00" name="Text 6"/>
          <p:cNvSpPr txBox="1"/>
          <p:nvPr/>
        </p:nvSpPr>
        <p:spPr>
          <a:xfrm>
            <a:off x="320040" y="1341526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## Rule 1 — Think Before Coding</a:t>
            </a:r>
          </a:p>
        </p:txBody>
      </p:sp>
      <p:sp>
        <p:nvSpPr>
          <p:cNvPr id="201" name="Text 7"/>
          <p:cNvSpPr txBox="1"/>
          <p:nvPr/>
        </p:nvSpPr>
        <p:spPr>
          <a:xfrm>
            <a:off x="320040" y="1508861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State assumptions. If uncertain, ask rather than guess.</a:t>
            </a:r>
          </a:p>
        </p:txBody>
      </p:sp>
      <p:sp>
        <p:nvSpPr>
          <p:cNvPr id="202" name="Text 8"/>
          <p:cNvSpPr txBox="1"/>
          <p:nvPr/>
        </p:nvSpPr>
        <p:spPr>
          <a:xfrm>
            <a:off x="320040" y="1676196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Push back when a simpler approach exists.</a:t>
            </a:r>
          </a:p>
        </p:txBody>
      </p:sp>
      <p:sp>
        <p:nvSpPr>
          <p:cNvPr id="203" name="Text 9"/>
          <p:cNvSpPr txBox="1"/>
          <p:nvPr/>
        </p:nvSpPr>
        <p:spPr>
          <a:xfrm>
            <a:off x="320040" y="1843531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Stop when confused. Name what's unclear.</a:t>
            </a:r>
          </a:p>
        </p:txBody>
      </p:sp>
      <p:sp>
        <p:nvSpPr>
          <p:cNvPr id="204" name="Text 10"/>
          <p:cNvSpPr txBox="1"/>
          <p:nvPr/>
        </p:nvSpPr>
        <p:spPr>
          <a:xfrm>
            <a:off x="320040" y="2010867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05" name="Text 11"/>
          <p:cNvSpPr txBox="1"/>
          <p:nvPr/>
        </p:nvSpPr>
        <p:spPr>
          <a:xfrm>
            <a:off x="320040" y="2178202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## Rule 2 — Simplicity First</a:t>
            </a:r>
          </a:p>
        </p:txBody>
      </p:sp>
      <p:sp>
        <p:nvSpPr>
          <p:cNvPr id="206" name="Text 12"/>
          <p:cNvSpPr txBox="1"/>
          <p:nvPr/>
        </p:nvSpPr>
        <p:spPr>
          <a:xfrm>
            <a:off x="320040" y="2345537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Minimum code that solves the problem. Nothing speculative.</a:t>
            </a:r>
          </a:p>
        </p:txBody>
      </p:sp>
      <p:sp>
        <p:nvSpPr>
          <p:cNvPr id="207" name="Text 13"/>
          <p:cNvSpPr txBox="1"/>
          <p:nvPr/>
        </p:nvSpPr>
        <p:spPr>
          <a:xfrm>
            <a:off x="320040" y="2512872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No features beyond what was asked.</a:t>
            </a:r>
          </a:p>
        </p:txBody>
      </p:sp>
      <p:sp>
        <p:nvSpPr>
          <p:cNvPr id="208" name="Text 14"/>
          <p:cNvSpPr txBox="1"/>
          <p:nvPr/>
        </p:nvSpPr>
        <p:spPr>
          <a:xfrm>
            <a:off x="320040" y="2680207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No abstractions for single-use code.</a:t>
            </a:r>
          </a:p>
        </p:txBody>
      </p:sp>
      <p:sp>
        <p:nvSpPr>
          <p:cNvPr id="209" name="Text 15"/>
          <p:cNvSpPr txBox="1"/>
          <p:nvPr/>
        </p:nvSpPr>
        <p:spPr>
          <a:xfrm>
            <a:off x="320040" y="2847543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10" name="Text 16"/>
          <p:cNvSpPr txBox="1"/>
          <p:nvPr/>
        </p:nvSpPr>
        <p:spPr>
          <a:xfrm>
            <a:off x="320040" y="3014878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## Rule 3 — Surgical Changes</a:t>
            </a:r>
          </a:p>
        </p:txBody>
      </p:sp>
      <p:sp>
        <p:nvSpPr>
          <p:cNvPr id="211" name="Text 17"/>
          <p:cNvSpPr txBox="1"/>
          <p:nvPr/>
        </p:nvSpPr>
        <p:spPr>
          <a:xfrm>
            <a:off x="320040" y="3182213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Touch only what you must. Clean up only your own mess.</a:t>
            </a:r>
          </a:p>
        </p:txBody>
      </p:sp>
      <p:sp>
        <p:nvSpPr>
          <p:cNvPr id="212" name="Text 18"/>
          <p:cNvSpPr txBox="1"/>
          <p:nvPr/>
        </p:nvSpPr>
        <p:spPr>
          <a:xfrm>
            <a:off x="320040" y="3349548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Don't "improve" adjacent code. Match existing style.</a:t>
            </a:r>
          </a:p>
        </p:txBody>
      </p:sp>
      <p:sp>
        <p:nvSpPr>
          <p:cNvPr id="213" name="Text 19"/>
          <p:cNvSpPr txBox="1"/>
          <p:nvPr/>
        </p:nvSpPr>
        <p:spPr>
          <a:xfrm>
            <a:off x="320040" y="3516883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14" name="Text 20"/>
          <p:cNvSpPr txBox="1"/>
          <p:nvPr/>
        </p:nvSpPr>
        <p:spPr>
          <a:xfrm>
            <a:off x="320040" y="3684219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## Rule 4 — Goal-Driven Execution</a:t>
            </a:r>
          </a:p>
        </p:txBody>
      </p:sp>
      <p:sp>
        <p:nvSpPr>
          <p:cNvPr id="215" name="Text 21"/>
          <p:cNvSpPr txBox="1"/>
          <p:nvPr/>
        </p:nvSpPr>
        <p:spPr>
          <a:xfrm>
            <a:off x="320040" y="3851554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Define success criteria. Loop until verified.</a:t>
            </a:r>
          </a:p>
        </p:txBody>
      </p:sp>
      <p:sp>
        <p:nvSpPr>
          <p:cNvPr id="216" name="Text 22"/>
          <p:cNvSpPr txBox="1"/>
          <p:nvPr/>
        </p:nvSpPr>
        <p:spPr>
          <a:xfrm>
            <a:off x="320040" y="4018889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Don't follow steps. Define success and iterate.</a:t>
            </a:r>
          </a:p>
        </p:txBody>
      </p:sp>
      <p:sp>
        <p:nvSpPr>
          <p:cNvPr id="217" name="Text 23"/>
          <p:cNvSpPr txBox="1"/>
          <p:nvPr/>
        </p:nvSpPr>
        <p:spPr>
          <a:xfrm>
            <a:off x="320040" y="4186224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18" name="Text 24"/>
          <p:cNvSpPr txBox="1"/>
          <p:nvPr/>
        </p:nvSpPr>
        <p:spPr>
          <a:xfrm>
            <a:off x="320040" y="4353559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## Rule 5 — Use model only for judgment calls</a:t>
            </a:r>
          </a:p>
        </p:txBody>
      </p:sp>
      <p:sp>
        <p:nvSpPr>
          <p:cNvPr id="219" name="Text 25"/>
          <p:cNvSpPr txBox="1"/>
          <p:nvPr/>
        </p:nvSpPr>
        <p:spPr>
          <a:xfrm>
            <a:off x="320040" y="4520895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Use for: classification, drafting, summarization.</a:t>
            </a:r>
          </a:p>
        </p:txBody>
      </p:sp>
      <p:sp>
        <p:nvSpPr>
          <p:cNvPr id="220" name="Text 26"/>
          <p:cNvSpPr txBox="1"/>
          <p:nvPr/>
        </p:nvSpPr>
        <p:spPr>
          <a:xfrm>
            <a:off x="320040" y="4688230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 NOT for: routing, retries, deterministic transforms.</a:t>
            </a:r>
          </a:p>
        </p:txBody>
      </p:sp>
      <p:sp>
        <p:nvSpPr>
          <p:cNvPr id="221" name="Text 27"/>
          <p:cNvSpPr txBox="1"/>
          <p:nvPr/>
        </p:nvSpPr>
        <p:spPr>
          <a:xfrm>
            <a:off x="320040" y="4855565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If code can answer, code answers.</a:t>
            </a:r>
          </a:p>
        </p:txBody>
      </p:sp>
      <p:sp>
        <p:nvSpPr>
          <p:cNvPr id="222" name="Text 28"/>
          <p:cNvSpPr txBox="1"/>
          <p:nvPr/>
        </p:nvSpPr>
        <p:spPr>
          <a:xfrm>
            <a:off x="320040" y="5022900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23" name="Text 29"/>
          <p:cNvSpPr txBox="1"/>
          <p:nvPr/>
        </p:nvSpPr>
        <p:spPr>
          <a:xfrm>
            <a:off x="320040" y="5190235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## Rule 6 — Token budgets are not advisory</a:t>
            </a:r>
          </a:p>
        </p:txBody>
      </p:sp>
      <p:sp>
        <p:nvSpPr>
          <p:cNvPr id="224" name="Text 30"/>
          <p:cNvSpPr txBox="1"/>
          <p:nvPr/>
        </p:nvSpPr>
        <p:spPr>
          <a:xfrm>
            <a:off x="320040" y="5357571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Per-task: 4,000 tokens. Per-session: 30,000 tokens.</a:t>
            </a:r>
          </a:p>
        </p:txBody>
      </p:sp>
      <p:sp>
        <p:nvSpPr>
          <p:cNvPr id="225" name="Text 31"/>
          <p:cNvSpPr txBox="1"/>
          <p:nvPr/>
        </p:nvSpPr>
        <p:spPr>
          <a:xfrm>
            <a:off x="320040" y="5524906"/>
            <a:ext cx="4343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Surface the breach. Do not silently overrun.</a:t>
            </a:r>
          </a:p>
        </p:txBody>
      </p:sp>
      <p:sp>
        <p:nvSpPr>
          <p:cNvPr id="226" name="Text 32"/>
          <p:cNvSpPr txBox="1"/>
          <p:nvPr/>
        </p:nvSpPr>
        <p:spPr>
          <a:xfrm>
            <a:off x="4754879" y="672185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## Rule 7 — Surface conflicts, don't average them</a:t>
            </a:r>
          </a:p>
        </p:txBody>
      </p:sp>
      <p:sp>
        <p:nvSpPr>
          <p:cNvPr id="227" name="Text 33"/>
          <p:cNvSpPr txBox="1"/>
          <p:nvPr/>
        </p:nvSpPr>
        <p:spPr>
          <a:xfrm>
            <a:off x="4754879" y="839520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If two patterns contradict, pick one (more recent/tested).</a:t>
            </a:r>
          </a:p>
        </p:txBody>
      </p:sp>
      <p:sp>
        <p:nvSpPr>
          <p:cNvPr id="228" name="Text 34"/>
          <p:cNvSpPr txBox="1"/>
          <p:nvPr/>
        </p:nvSpPr>
        <p:spPr>
          <a:xfrm>
            <a:off x="4754879" y="1006855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Explain why. Flag the other for cleanup.</a:t>
            </a:r>
          </a:p>
        </p:txBody>
      </p:sp>
      <p:sp>
        <p:nvSpPr>
          <p:cNvPr id="229" name="Text 35"/>
          <p:cNvSpPr txBox="1"/>
          <p:nvPr/>
        </p:nvSpPr>
        <p:spPr>
          <a:xfrm>
            <a:off x="4754879" y="1174191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Don't blend conflicting patterns.</a:t>
            </a:r>
          </a:p>
        </p:txBody>
      </p:sp>
      <p:sp>
        <p:nvSpPr>
          <p:cNvPr id="230" name="Text 36"/>
          <p:cNvSpPr txBox="1"/>
          <p:nvPr/>
        </p:nvSpPr>
        <p:spPr>
          <a:xfrm>
            <a:off x="4754879" y="1341526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31" name="Text 37"/>
          <p:cNvSpPr txBox="1"/>
          <p:nvPr/>
        </p:nvSpPr>
        <p:spPr>
          <a:xfrm>
            <a:off x="4754879" y="1508861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## Rule 8 — Read before you write</a:t>
            </a:r>
          </a:p>
        </p:txBody>
      </p:sp>
      <p:sp>
        <p:nvSpPr>
          <p:cNvPr id="232" name="Text 38"/>
          <p:cNvSpPr txBox="1"/>
          <p:nvPr/>
        </p:nvSpPr>
        <p:spPr>
          <a:xfrm>
            <a:off x="4754879" y="1676196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Before adding code, read exports, immediate callers.</a:t>
            </a:r>
          </a:p>
        </p:txBody>
      </p:sp>
      <p:sp>
        <p:nvSpPr>
          <p:cNvPr id="233" name="Text 39"/>
          <p:cNvSpPr txBox="1"/>
          <p:nvPr/>
        </p:nvSpPr>
        <p:spPr>
          <a:xfrm>
            <a:off x="4754879" y="1843531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"Looks orthogonal" is dangerous. Ask if unsure.</a:t>
            </a:r>
          </a:p>
        </p:txBody>
      </p:sp>
      <p:sp>
        <p:nvSpPr>
          <p:cNvPr id="234" name="Text 40"/>
          <p:cNvSpPr txBox="1"/>
          <p:nvPr/>
        </p:nvSpPr>
        <p:spPr>
          <a:xfrm>
            <a:off x="4754879" y="2010867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35" name="Text 41"/>
          <p:cNvSpPr txBox="1"/>
          <p:nvPr/>
        </p:nvSpPr>
        <p:spPr>
          <a:xfrm>
            <a:off x="4754879" y="2178202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## Rule 9 — Tests verify intent, not just behavior</a:t>
            </a:r>
          </a:p>
        </p:txBody>
      </p:sp>
      <p:sp>
        <p:nvSpPr>
          <p:cNvPr id="236" name="Text 42"/>
          <p:cNvSpPr txBox="1"/>
          <p:nvPr/>
        </p:nvSpPr>
        <p:spPr>
          <a:xfrm>
            <a:off x="4754879" y="2345537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Tests must encode WHY behavior matters.</a:t>
            </a:r>
          </a:p>
        </p:txBody>
      </p:sp>
      <p:sp>
        <p:nvSpPr>
          <p:cNvPr id="237" name="Text 43"/>
          <p:cNvSpPr txBox="1"/>
          <p:nvPr/>
        </p:nvSpPr>
        <p:spPr>
          <a:xfrm>
            <a:off x="4754879" y="2512872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 test that can't fail when logic changes is wrong.</a:t>
            </a:r>
          </a:p>
        </p:txBody>
      </p:sp>
      <p:sp>
        <p:nvSpPr>
          <p:cNvPr id="238" name="Text 44"/>
          <p:cNvSpPr txBox="1"/>
          <p:nvPr/>
        </p:nvSpPr>
        <p:spPr>
          <a:xfrm>
            <a:off x="4754879" y="2680207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39" name="Text 45"/>
          <p:cNvSpPr txBox="1"/>
          <p:nvPr/>
        </p:nvSpPr>
        <p:spPr>
          <a:xfrm>
            <a:off x="4754879" y="2847543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## Rule 10 — Checkpoint after every significant step</a:t>
            </a:r>
          </a:p>
        </p:txBody>
      </p:sp>
      <p:sp>
        <p:nvSpPr>
          <p:cNvPr id="240" name="Text 46"/>
          <p:cNvSpPr txBox="1"/>
          <p:nvPr/>
        </p:nvSpPr>
        <p:spPr>
          <a:xfrm>
            <a:off x="4754879" y="3014878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Summarize what was done, verified, what's left.</a:t>
            </a:r>
          </a:p>
        </p:txBody>
      </p:sp>
      <p:sp>
        <p:nvSpPr>
          <p:cNvPr id="241" name="Text 47"/>
          <p:cNvSpPr txBox="1"/>
          <p:nvPr/>
        </p:nvSpPr>
        <p:spPr>
          <a:xfrm>
            <a:off x="4754879" y="3182213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If you lose track, stop and restate.</a:t>
            </a:r>
          </a:p>
        </p:txBody>
      </p:sp>
      <p:sp>
        <p:nvSpPr>
          <p:cNvPr id="242" name="Text 48"/>
          <p:cNvSpPr txBox="1"/>
          <p:nvPr/>
        </p:nvSpPr>
        <p:spPr>
          <a:xfrm>
            <a:off x="4754879" y="3349548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43" name="Text 49"/>
          <p:cNvSpPr txBox="1"/>
          <p:nvPr/>
        </p:nvSpPr>
        <p:spPr>
          <a:xfrm>
            <a:off x="4754879" y="3516883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## Rule 11 — Match conventions, even if you disagree</a:t>
            </a:r>
          </a:p>
        </p:txBody>
      </p:sp>
      <p:sp>
        <p:nvSpPr>
          <p:cNvPr id="244" name="Text 50"/>
          <p:cNvSpPr txBox="1"/>
          <p:nvPr/>
        </p:nvSpPr>
        <p:spPr>
          <a:xfrm>
            <a:off x="4754879" y="3684219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Conformance &gt; taste inside the codebase.</a:t>
            </a:r>
          </a:p>
        </p:txBody>
      </p:sp>
      <p:sp>
        <p:nvSpPr>
          <p:cNvPr id="245" name="Text 51"/>
          <p:cNvSpPr txBox="1"/>
          <p:nvPr/>
        </p:nvSpPr>
        <p:spPr>
          <a:xfrm>
            <a:off x="4754879" y="3851554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Surface harmful conventions; don't fork silently.</a:t>
            </a:r>
          </a:p>
        </p:txBody>
      </p:sp>
      <p:sp>
        <p:nvSpPr>
          <p:cNvPr id="246" name="Text 52"/>
          <p:cNvSpPr txBox="1"/>
          <p:nvPr/>
        </p:nvSpPr>
        <p:spPr>
          <a:xfrm>
            <a:off x="4754879" y="4018889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47" name="Text 53"/>
          <p:cNvSpPr txBox="1"/>
          <p:nvPr/>
        </p:nvSpPr>
        <p:spPr>
          <a:xfrm>
            <a:off x="4754879" y="4186224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## Rule 12 — Fail loud</a:t>
            </a:r>
          </a:p>
        </p:txBody>
      </p:sp>
      <p:sp>
        <p:nvSpPr>
          <p:cNvPr id="248" name="Text 54"/>
          <p:cNvSpPr txBox="1"/>
          <p:nvPr/>
        </p:nvSpPr>
        <p:spPr>
          <a:xfrm>
            <a:off x="4754879" y="4353559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"Completed" is wrong if anything was skipped silently.</a:t>
            </a:r>
          </a:p>
        </p:txBody>
      </p:sp>
      <p:sp>
        <p:nvSpPr>
          <p:cNvPr id="249" name="Text 55"/>
          <p:cNvSpPr txBox="1"/>
          <p:nvPr/>
        </p:nvSpPr>
        <p:spPr>
          <a:xfrm>
            <a:off x="4754879" y="4520895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"Tests pass" is wrong if any were skipped.</a:t>
            </a:r>
          </a:p>
        </p:txBody>
      </p:sp>
      <p:sp>
        <p:nvSpPr>
          <p:cNvPr id="250" name="Text 56"/>
          <p:cNvSpPr txBox="1"/>
          <p:nvPr/>
        </p:nvSpPr>
        <p:spPr>
          <a:xfrm>
            <a:off x="4754879" y="4688230"/>
            <a:ext cx="41605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Default to surfacing uncertainty, not hiding it.</a:t>
            </a:r>
          </a:p>
        </p:txBody>
      </p:sp>
      <p:sp>
        <p:nvSpPr>
          <p:cNvPr id="251" name="Shape 57"/>
          <p:cNvSpPr/>
          <p:nvPr/>
        </p:nvSpPr>
        <p:spPr>
          <a:xfrm flipH="1">
            <a:off x="4663440" y="621792"/>
            <a:ext cx="1" cy="4343401"/>
          </a:xfrm>
          <a:prstGeom prst="line">
            <a:avLst/>
          </a:prstGeom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Text 1"/>
          <p:cNvSpPr txBox="1"/>
          <p:nvPr/>
        </p:nvSpPr>
        <p:spPr>
          <a:xfrm>
            <a:off x="365759" y="336295"/>
            <a:ext cx="841248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Other takeaway from Mnimiy</a:t>
            </a:r>
          </a:p>
        </p:txBody>
      </p:sp>
      <p:sp>
        <p:nvSpPr>
          <p:cNvPr id="255" name="Shape 2"/>
          <p:cNvSpPr/>
          <p:nvPr/>
        </p:nvSpPr>
        <p:spPr>
          <a:xfrm>
            <a:off x="365759" y="1069339"/>
            <a:ext cx="2651762" cy="2423969"/>
          </a:xfrm>
          <a:prstGeom prst="rect">
            <a:avLst/>
          </a:prstGeom>
          <a:solidFill>
            <a:srgbClr val="FFFFFF"/>
          </a:solidFill>
          <a:ln w="19050">
            <a:solidFill>
              <a:srgbClr val="FDDCDE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" name="Shape 3"/>
          <p:cNvSpPr/>
          <p:nvPr/>
        </p:nvSpPr>
        <p:spPr>
          <a:xfrm>
            <a:off x="365759" y="1069339"/>
            <a:ext cx="2651762" cy="64009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Shape 4"/>
          <p:cNvSpPr/>
          <p:nvPr/>
        </p:nvSpPr>
        <p:spPr>
          <a:xfrm>
            <a:off x="475487" y="1188211"/>
            <a:ext cx="2432305" cy="420625"/>
          </a:xfrm>
          <a:prstGeom prst="rect">
            <a:avLst/>
          </a:prstGeom>
          <a:solidFill>
            <a:srgbClr val="FFF0F0"/>
          </a:solidFill>
          <a:ln w="12700">
            <a:solidFill>
              <a:srgbClr val="FDDC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5"/>
          <p:cNvSpPr txBox="1"/>
          <p:nvPr/>
        </p:nvSpPr>
        <p:spPr>
          <a:xfrm>
            <a:off x="475487" y="1290573"/>
            <a:ext cx="243230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E63946"/>
                </a:solidFill>
              </a:defRPr>
            </a:lvl1pPr>
          </a:lstStyle>
          <a:p>
            <a:pPr/>
            <a:r>
              <a:t>當成偏好垃圾桶</a:t>
            </a:r>
          </a:p>
        </p:txBody>
      </p:sp>
      <p:sp>
        <p:nvSpPr>
          <p:cNvPr id="259" name="Text 6"/>
          <p:cNvSpPr txBox="1"/>
          <p:nvPr/>
        </p:nvSpPr>
        <p:spPr>
          <a:xfrm>
            <a:off x="548640" y="1935987"/>
            <a:ext cx="22860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什麼習慣都往裡塞</a:t>
            </a:r>
          </a:p>
        </p:txBody>
      </p:sp>
      <p:sp>
        <p:nvSpPr>
          <p:cNvPr id="260" name="Text 7"/>
          <p:cNvSpPr txBox="1"/>
          <p:nvPr/>
        </p:nvSpPr>
        <p:spPr>
          <a:xfrm>
            <a:off x="548640" y="2591762"/>
            <a:ext cx="2286001" cy="556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200">
                <a:solidFill>
                  <a:srgbClr val="5A7075"/>
                </a:solidFill>
              </a:defRPr>
            </a:pPr>
            <a:r>
              <a:t>膨脹到 4000+ tokens</a:t>
            </a:r>
          </a:p>
          <a:p>
            <a:pPr algn="ctr">
              <a:defRPr sz="1200">
                <a:solidFill>
                  <a:srgbClr val="5A7075"/>
                </a:solidFill>
              </a:defRPr>
            </a:pPr>
            <a:r>
              <a:t>AI 規則遵守率掉到 30%</a:t>
            </a:r>
          </a:p>
        </p:txBody>
      </p:sp>
      <p:sp>
        <p:nvSpPr>
          <p:cNvPr id="261" name="Shape 8"/>
          <p:cNvSpPr/>
          <p:nvPr/>
        </p:nvSpPr>
        <p:spPr>
          <a:xfrm>
            <a:off x="3246120" y="1069339"/>
            <a:ext cx="2651761" cy="2423969"/>
          </a:xfrm>
          <a:prstGeom prst="rect">
            <a:avLst/>
          </a:prstGeom>
          <a:solidFill>
            <a:srgbClr val="FFFFFF"/>
          </a:solidFill>
          <a:ln w="19050">
            <a:solidFill>
              <a:srgbClr val="FDDCDE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" name="Shape 9"/>
          <p:cNvSpPr/>
          <p:nvPr/>
        </p:nvSpPr>
        <p:spPr>
          <a:xfrm>
            <a:off x="3246120" y="1069339"/>
            <a:ext cx="2651761" cy="64009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Shape 10"/>
          <p:cNvSpPr/>
          <p:nvPr/>
        </p:nvSpPr>
        <p:spPr>
          <a:xfrm>
            <a:off x="3355847" y="1188211"/>
            <a:ext cx="2432305" cy="420625"/>
          </a:xfrm>
          <a:prstGeom prst="rect">
            <a:avLst/>
          </a:prstGeom>
          <a:solidFill>
            <a:srgbClr val="FFF0F0"/>
          </a:solidFill>
          <a:ln w="12700">
            <a:solidFill>
              <a:srgbClr val="FDDC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11"/>
          <p:cNvSpPr txBox="1"/>
          <p:nvPr/>
        </p:nvSpPr>
        <p:spPr>
          <a:xfrm>
            <a:off x="3355847" y="1290573"/>
            <a:ext cx="243230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E63946"/>
                </a:solidFill>
              </a:defRPr>
            </a:lvl1pPr>
          </a:lstStyle>
          <a:p>
            <a:pPr/>
            <a:r>
              <a:t>乾脆不用</a:t>
            </a:r>
          </a:p>
        </p:txBody>
      </p:sp>
      <p:sp>
        <p:nvSpPr>
          <p:cNvPr id="265" name="Text 12"/>
          <p:cNvSpPr txBox="1"/>
          <p:nvPr/>
        </p:nvSpPr>
        <p:spPr>
          <a:xfrm>
            <a:off x="3429000" y="1935987"/>
            <a:ext cx="228600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每次重新 prompt</a:t>
            </a:r>
          </a:p>
        </p:txBody>
      </p:sp>
      <p:sp>
        <p:nvSpPr>
          <p:cNvPr id="266" name="Text 13"/>
          <p:cNvSpPr txBox="1"/>
          <p:nvPr/>
        </p:nvSpPr>
        <p:spPr>
          <a:xfrm>
            <a:off x="3429000" y="2604462"/>
            <a:ext cx="2286000" cy="556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200">
                <a:solidFill>
                  <a:srgbClr val="5A7075"/>
                </a:solidFill>
              </a:defRPr>
            </a:pPr>
            <a:r>
              <a:t>造成 5 倍 token 浪費</a:t>
            </a:r>
          </a:p>
          <a:p>
            <a:pPr algn="ctr">
              <a:defRPr sz="1200">
                <a:solidFill>
                  <a:srgbClr val="5A7075"/>
                </a:solidFill>
              </a:defRPr>
            </a:pPr>
            <a:r>
              <a:t>不同 session 行為不一致</a:t>
            </a:r>
          </a:p>
        </p:txBody>
      </p:sp>
      <p:sp>
        <p:nvSpPr>
          <p:cNvPr id="267" name="Shape 14"/>
          <p:cNvSpPr/>
          <p:nvPr/>
        </p:nvSpPr>
        <p:spPr>
          <a:xfrm>
            <a:off x="6126479" y="1069339"/>
            <a:ext cx="2651761" cy="2423969"/>
          </a:xfrm>
          <a:prstGeom prst="rect">
            <a:avLst/>
          </a:prstGeom>
          <a:solidFill>
            <a:srgbClr val="FFFFFF"/>
          </a:solidFill>
          <a:ln w="19050">
            <a:solidFill>
              <a:srgbClr val="FDDCDE"/>
            </a:solidFill>
          </a:ln>
          <a:effectLst>
            <a:outerShdw sx="100000" sy="100000" kx="0" ky="0" algn="b" rotWithShape="0" blurRad="76200" dist="25400" dir="8100000">
              <a:srgbClr val="000000">
                <a:alpha val="7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" name="Shape 15"/>
          <p:cNvSpPr/>
          <p:nvPr/>
        </p:nvSpPr>
        <p:spPr>
          <a:xfrm>
            <a:off x="6126479" y="1069339"/>
            <a:ext cx="2651761" cy="64009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Shape 16"/>
          <p:cNvSpPr/>
          <p:nvPr/>
        </p:nvSpPr>
        <p:spPr>
          <a:xfrm>
            <a:off x="6236208" y="1188211"/>
            <a:ext cx="2432305" cy="420625"/>
          </a:xfrm>
          <a:prstGeom prst="rect">
            <a:avLst/>
          </a:prstGeom>
          <a:solidFill>
            <a:srgbClr val="FFF0F0"/>
          </a:solidFill>
          <a:ln w="12700">
            <a:solidFill>
              <a:srgbClr val="FDDC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17"/>
          <p:cNvSpPr txBox="1"/>
          <p:nvPr/>
        </p:nvSpPr>
        <p:spPr>
          <a:xfrm>
            <a:off x="6236208" y="1290573"/>
            <a:ext cx="243230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E63946"/>
                </a:solidFill>
              </a:defRPr>
            </a:lvl1pPr>
          </a:lstStyle>
          <a:p>
            <a:pPr/>
            <a:r>
              <a:t>複製模板後不再管</a:t>
            </a:r>
          </a:p>
        </p:txBody>
      </p:sp>
      <p:sp>
        <p:nvSpPr>
          <p:cNvPr id="271" name="Text 18"/>
          <p:cNvSpPr txBox="1"/>
          <p:nvPr/>
        </p:nvSpPr>
        <p:spPr>
          <a:xfrm>
            <a:off x="6309360" y="1935987"/>
            <a:ext cx="22860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不更新</a:t>
            </a:r>
          </a:p>
        </p:txBody>
      </p:sp>
      <p:sp>
        <p:nvSpPr>
          <p:cNvPr id="272" name="Text 19"/>
          <p:cNvSpPr txBox="1"/>
          <p:nvPr/>
        </p:nvSpPr>
        <p:spPr>
          <a:xfrm>
            <a:off x="6309360" y="2608580"/>
            <a:ext cx="22860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200">
                <a:solidFill>
                  <a:srgbClr val="5A7075"/>
                </a:solidFill>
              </a:defRPr>
            </a:pPr>
            <a:r>
              <a:t>可能有效兩週</a:t>
            </a:r>
          </a:p>
          <a:p>
            <a:pPr algn="ctr">
              <a:defRPr sz="1200">
                <a:solidFill>
                  <a:srgbClr val="5A7075"/>
                </a:solidFill>
              </a:defRPr>
            </a:pPr>
            <a:r>
              <a:t>但隨 codebase 演進悄悄失效</a:t>
            </a:r>
          </a:p>
        </p:txBody>
      </p:sp>
      <p:sp>
        <p:nvSpPr>
          <p:cNvPr id="273" name="Text 20"/>
          <p:cNvSpPr txBox="1"/>
          <p:nvPr/>
        </p:nvSpPr>
        <p:spPr>
          <a:xfrm>
            <a:off x="365759" y="3632200"/>
            <a:ext cx="84124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網路流傳但可能反而破壞 AI 表現：</a:t>
            </a:r>
          </a:p>
        </p:txBody>
      </p:sp>
      <p:sp>
        <p:nvSpPr>
          <p:cNvPr id="274" name="Text 21"/>
          <p:cNvSpPr txBox="1"/>
          <p:nvPr/>
        </p:nvSpPr>
        <p:spPr>
          <a:xfrm>
            <a:off x="411479" y="3818782"/>
            <a:ext cx="8321041" cy="806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5A7075"/>
                </a:solidFill>
              </a:defRPr>
            </a:pPr>
            <a:r>
              <a:t>① 寫範例不如寫規則（具體範例會比抽象規則消耗更多 token、AI 會對範例產生「過度擬合 (Over-fit)」）</a:t>
            </a:r>
          </a:p>
          <a:p>
            <a:pPr>
              <a:defRPr sz="1200">
                <a:solidFill>
                  <a:srgbClr val="5A7075"/>
                </a:solidFill>
              </a:defRPr>
            </a:pPr>
            <a:r>
              <a:t>② 情緒喊話是純雜訊："Be careful" / "think hard" / "act senior" → AI 本就自認是資深工程師，此空泛指令遵守率暴跌至 30%</a:t>
            </a:r>
          </a:p>
          <a:p>
            <a:pPr>
              <a:defRPr sz="1200">
                <a:solidFill>
                  <a:srgbClr val="5A7075"/>
                </a:solidFill>
              </a:defRPr>
            </a:pPr>
            <a:r>
              <a:t>③ 依賴特定工具的死指令（工具未安裝時靜默失效）</a:t>
            </a:r>
          </a:p>
        </p:txBody>
      </p:sp>
      <p:sp>
        <p:nvSpPr>
          <p:cNvPr id="275" name="Text 20"/>
          <p:cNvSpPr txBox="1"/>
          <p:nvPr/>
        </p:nvSpPr>
        <p:spPr>
          <a:xfrm>
            <a:off x="365759" y="816228"/>
            <a:ext cx="84124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CLAUDE.md是最被低估的文件。大多數開發者通常會犯三類錯誤：</a:t>
            </a:r>
          </a:p>
        </p:txBody>
      </p:sp>
      <p:sp>
        <p:nvSpPr>
          <p:cNvPr id="276" name="Text 19"/>
          <p:cNvSpPr txBox="1"/>
          <p:nvPr/>
        </p:nvSpPr>
        <p:spPr>
          <a:xfrm>
            <a:off x="230293" y="4720971"/>
            <a:ext cx="884881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200">
                <a:solidFill>
                  <a:srgbClr val="5A7075"/>
                </a:solidFill>
              </a:defRPr>
            </a:lvl1pPr>
          </a:lstStyle>
          <a:p>
            <a:pPr/>
            <a:r>
              <a:t>不要盲目套用這 12 條規則「一個針對你真實痛點量身打造的 6 條規則，絕對勝過一個塞滿了 6 條你永遠用不到的 12 條規則範本。」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-1" y="0"/>
            <a:ext cx="3200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Shape 1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Text 2"/>
          <p:cNvSpPr txBox="1"/>
          <p:nvPr/>
        </p:nvSpPr>
        <p:spPr>
          <a:xfrm>
            <a:off x="640080" y="415289"/>
            <a:ext cx="8229601" cy="118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81" name="Text 3"/>
          <p:cNvSpPr txBox="1"/>
          <p:nvPr/>
        </p:nvSpPr>
        <p:spPr>
          <a:xfrm>
            <a:off x="640080" y="1865629"/>
            <a:ext cx="8229601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Cmux 終端機</a:t>
            </a:r>
          </a:p>
        </p:txBody>
      </p:sp>
      <p:sp>
        <p:nvSpPr>
          <p:cNvPr id="282" name="Text 4"/>
          <p:cNvSpPr txBox="1"/>
          <p:nvPr/>
        </p:nvSpPr>
        <p:spPr>
          <a:xfrm>
            <a:off x="640080" y="3002279"/>
            <a:ext cx="7772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A0BEC5"/>
                </a:solidFill>
              </a:defRPr>
            </a:lvl1pPr>
          </a:lstStyle>
          <a:p>
            <a:pPr/>
            <a:r>
              <a:t>比一般 Terminal 更好用的 Claude Code 操作介面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Cmux 核心特色</a:t>
            </a:r>
          </a:p>
        </p:txBody>
      </p:sp>
      <p:sp>
        <p:nvSpPr>
          <p:cNvPr id="286" name="Shape 2"/>
          <p:cNvSpPr/>
          <p:nvPr/>
        </p:nvSpPr>
        <p:spPr>
          <a:xfrm>
            <a:off x="365760" y="960119"/>
            <a:ext cx="4159237" cy="7498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Shape 4"/>
          <p:cNvSpPr/>
          <p:nvPr/>
        </p:nvSpPr>
        <p:spPr>
          <a:xfrm>
            <a:off x="566927" y="1088136"/>
            <a:ext cx="457201" cy="457201"/>
          </a:xfrm>
          <a:prstGeom prst="ellipse">
            <a:avLst/>
          </a:prstGeom>
          <a:solidFill>
            <a:srgbClr val="E0F4F5"/>
          </a:solidFill>
          <a:ln w="12700">
            <a:solidFill>
              <a:srgbClr val="E0F4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Text 5"/>
          <p:cNvSpPr txBox="1"/>
          <p:nvPr/>
        </p:nvSpPr>
        <p:spPr>
          <a:xfrm>
            <a:off x="566927" y="1215136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</a:t>
            </a:r>
          </a:p>
        </p:txBody>
      </p:sp>
      <p:sp>
        <p:nvSpPr>
          <p:cNvPr id="289" name="Text 6"/>
          <p:cNvSpPr txBox="1"/>
          <p:nvPr/>
        </p:nvSpPr>
        <p:spPr>
          <a:xfrm>
            <a:off x="1152144" y="1056132"/>
            <a:ext cx="31089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多視窗並行</a:t>
            </a:r>
          </a:p>
        </p:txBody>
      </p:sp>
      <p:sp>
        <p:nvSpPr>
          <p:cNvPr id="290" name="Text 7"/>
          <p:cNvSpPr txBox="1"/>
          <p:nvPr/>
        </p:nvSpPr>
        <p:spPr>
          <a:xfrm>
            <a:off x="1152144" y="1325880"/>
            <a:ext cx="3547177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Command+T 開多個 Session，像多個分身同時幫你工作</a:t>
            </a:r>
          </a:p>
        </p:txBody>
      </p:sp>
      <p:sp>
        <p:nvSpPr>
          <p:cNvPr id="291" name="Shape 8"/>
          <p:cNvSpPr/>
          <p:nvPr/>
        </p:nvSpPr>
        <p:spPr>
          <a:xfrm>
            <a:off x="365760" y="1783079"/>
            <a:ext cx="4157980" cy="7498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Shape 10"/>
          <p:cNvSpPr/>
          <p:nvPr/>
        </p:nvSpPr>
        <p:spPr>
          <a:xfrm>
            <a:off x="566927" y="1911095"/>
            <a:ext cx="457201" cy="457201"/>
          </a:xfrm>
          <a:prstGeom prst="ellipse">
            <a:avLst/>
          </a:prstGeom>
          <a:solidFill>
            <a:srgbClr val="E0F4F5"/>
          </a:solidFill>
          <a:ln w="12700">
            <a:solidFill>
              <a:srgbClr val="E0F4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11"/>
          <p:cNvSpPr txBox="1"/>
          <p:nvPr/>
        </p:nvSpPr>
        <p:spPr>
          <a:xfrm>
            <a:off x="566927" y="2038095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=</a:t>
            </a:r>
          </a:p>
        </p:txBody>
      </p:sp>
      <p:sp>
        <p:nvSpPr>
          <p:cNvPr id="294" name="Text 12"/>
          <p:cNvSpPr txBox="1"/>
          <p:nvPr/>
        </p:nvSpPr>
        <p:spPr>
          <a:xfrm>
            <a:off x="1152144" y="1879092"/>
            <a:ext cx="31089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分割視窗</a:t>
            </a:r>
          </a:p>
        </p:txBody>
      </p:sp>
      <p:sp>
        <p:nvSpPr>
          <p:cNvPr id="295" name="Text 13"/>
          <p:cNvSpPr txBox="1"/>
          <p:nvPr/>
        </p:nvSpPr>
        <p:spPr>
          <a:xfrm>
            <a:off x="1152144" y="2148839"/>
            <a:ext cx="31089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水平或垂直分割，同時監控多個任務進度</a:t>
            </a:r>
          </a:p>
        </p:txBody>
      </p:sp>
      <p:sp>
        <p:nvSpPr>
          <p:cNvPr id="296" name="Shape 14"/>
          <p:cNvSpPr/>
          <p:nvPr/>
        </p:nvSpPr>
        <p:spPr>
          <a:xfrm>
            <a:off x="365760" y="2606039"/>
            <a:ext cx="4157980" cy="7498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Shape 16"/>
          <p:cNvSpPr/>
          <p:nvPr/>
        </p:nvSpPr>
        <p:spPr>
          <a:xfrm>
            <a:off x="566927" y="2734055"/>
            <a:ext cx="457201" cy="457201"/>
          </a:xfrm>
          <a:prstGeom prst="ellipse">
            <a:avLst/>
          </a:prstGeom>
          <a:solidFill>
            <a:srgbClr val="E0F4F5"/>
          </a:solidFill>
          <a:ln w="12700">
            <a:solidFill>
              <a:srgbClr val="E0F4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Text 17"/>
          <p:cNvSpPr txBox="1"/>
          <p:nvPr/>
        </p:nvSpPr>
        <p:spPr>
          <a:xfrm>
            <a:off x="566927" y="2861055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|</a:t>
            </a:r>
          </a:p>
        </p:txBody>
      </p:sp>
      <p:sp>
        <p:nvSpPr>
          <p:cNvPr id="299" name="Text 18"/>
          <p:cNvSpPr txBox="1"/>
          <p:nvPr/>
        </p:nvSpPr>
        <p:spPr>
          <a:xfrm>
            <a:off x="1152144" y="2702052"/>
            <a:ext cx="31343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垂直側邊欄</a:t>
            </a:r>
          </a:p>
        </p:txBody>
      </p:sp>
      <p:sp>
        <p:nvSpPr>
          <p:cNvPr id="300" name="Text 19"/>
          <p:cNvSpPr txBox="1"/>
          <p:nvPr/>
        </p:nvSpPr>
        <p:spPr>
          <a:xfrm>
            <a:off x="1152144" y="2971800"/>
            <a:ext cx="3108961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階層式資料夾管理對話，不同主題井然有序</a:t>
            </a:r>
          </a:p>
        </p:txBody>
      </p:sp>
      <p:sp>
        <p:nvSpPr>
          <p:cNvPr id="301" name="Shape 20"/>
          <p:cNvSpPr/>
          <p:nvPr/>
        </p:nvSpPr>
        <p:spPr>
          <a:xfrm>
            <a:off x="365760" y="3429000"/>
            <a:ext cx="4157980" cy="7498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Shape 22"/>
          <p:cNvSpPr/>
          <p:nvPr/>
        </p:nvSpPr>
        <p:spPr>
          <a:xfrm>
            <a:off x="566927" y="3557015"/>
            <a:ext cx="457201" cy="457201"/>
          </a:xfrm>
          <a:prstGeom prst="ellipse">
            <a:avLst/>
          </a:prstGeom>
          <a:solidFill>
            <a:srgbClr val="E0F4F5"/>
          </a:solidFill>
          <a:ln w="12700">
            <a:solidFill>
              <a:srgbClr val="E0F4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Text 23"/>
          <p:cNvSpPr txBox="1"/>
          <p:nvPr/>
        </p:nvSpPr>
        <p:spPr>
          <a:xfrm>
            <a:off x="566927" y="3684015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&gt;</a:t>
            </a:r>
          </a:p>
        </p:txBody>
      </p:sp>
      <p:sp>
        <p:nvSpPr>
          <p:cNvPr id="304" name="Text 24"/>
          <p:cNvSpPr txBox="1"/>
          <p:nvPr/>
        </p:nvSpPr>
        <p:spPr>
          <a:xfrm>
            <a:off x="1152144" y="3544061"/>
            <a:ext cx="31089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Shift+Enter</a:t>
            </a:r>
          </a:p>
        </p:txBody>
      </p:sp>
      <p:sp>
        <p:nvSpPr>
          <p:cNvPr id="305" name="Text 25"/>
          <p:cNvSpPr txBox="1"/>
          <p:nvPr/>
        </p:nvSpPr>
        <p:spPr>
          <a:xfrm>
            <a:off x="1152144" y="3794759"/>
            <a:ext cx="31089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比 /+Enter 更自然，貼近一般 AI 對話輸入習慣</a:t>
            </a:r>
          </a:p>
        </p:txBody>
      </p:sp>
      <p:sp>
        <p:nvSpPr>
          <p:cNvPr id="306" name="Shape 26"/>
          <p:cNvSpPr/>
          <p:nvPr/>
        </p:nvSpPr>
        <p:spPr>
          <a:xfrm>
            <a:off x="365760" y="4251959"/>
            <a:ext cx="4157980" cy="7498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Shape 28"/>
          <p:cNvSpPr/>
          <p:nvPr/>
        </p:nvSpPr>
        <p:spPr>
          <a:xfrm>
            <a:off x="566927" y="4379976"/>
            <a:ext cx="457201" cy="457201"/>
          </a:xfrm>
          <a:prstGeom prst="ellipse">
            <a:avLst/>
          </a:prstGeom>
          <a:solidFill>
            <a:srgbClr val="E0F4F5"/>
          </a:solidFill>
          <a:ln w="12700">
            <a:solidFill>
              <a:srgbClr val="E0F4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29"/>
          <p:cNvSpPr txBox="1"/>
          <p:nvPr/>
        </p:nvSpPr>
        <p:spPr>
          <a:xfrm>
            <a:off x="566927" y="4506976"/>
            <a:ext cx="4572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309" name="Text 30"/>
          <p:cNvSpPr txBox="1"/>
          <p:nvPr/>
        </p:nvSpPr>
        <p:spPr>
          <a:xfrm>
            <a:off x="1152144" y="4347971"/>
            <a:ext cx="31089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滑鼠全功能</a:t>
            </a:r>
          </a:p>
        </p:txBody>
      </p:sp>
      <p:sp>
        <p:nvSpPr>
          <p:cNvPr id="310" name="Text 31"/>
          <p:cNvSpPr txBox="1"/>
          <p:nvPr/>
        </p:nvSpPr>
        <p:spPr>
          <a:xfrm>
            <a:off x="1152144" y="4617720"/>
            <a:ext cx="345037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點選插入游標、拖拉圖片與資料夾路徑直接丟入終端機</a:t>
            </a:r>
          </a:p>
        </p:txBody>
      </p:sp>
      <p:pic>
        <p:nvPicPr>
          <p:cNvPr id="311" name="影像" descr="影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49224" y="1379154"/>
            <a:ext cx="4587063" cy="29380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Cmux 安裝方式</a:t>
            </a:r>
          </a:p>
        </p:txBody>
      </p:sp>
      <p:sp>
        <p:nvSpPr>
          <p:cNvPr id="315" name="Shape 2"/>
          <p:cNvSpPr/>
          <p:nvPr/>
        </p:nvSpPr>
        <p:spPr>
          <a:xfrm>
            <a:off x="365759" y="960119"/>
            <a:ext cx="3200401" cy="3886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Shape 3"/>
          <p:cNvSpPr/>
          <p:nvPr/>
        </p:nvSpPr>
        <p:spPr>
          <a:xfrm>
            <a:off x="365759" y="960119"/>
            <a:ext cx="3200401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Text 4"/>
          <p:cNvSpPr txBox="1"/>
          <p:nvPr/>
        </p:nvSpPr>
        <p:spPr>
          <a:xfrm>
            <a:off x="502919" y="1067308"/>
            <a:ext cx="292608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Mac 安裝</a:t>
            </a:r>
          </a:p>
        </p:txBody>
      </p:sp>
      <p:sp>
        <p:nvSpPr>
          <p:cNvPr id="318" name="Text 5"/>
          <p:cNvSpPr txBox="1"/>
          <p:nvPr/>
        </p:nvSpPr>
        <p:spPr>
          <a:xfrm>
            <a:off x="548639" y="1666240"/>
            <a:ext cx="2834642" cy="105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1C1C2E"/>
                </a:solidFill>
              </a:defRPr>
            </a:pPr>
            <a:r>
              <a:t>點擊連結後，依照一般 Mac App 安裝流程完成即可。</a:t>
            </a:r>
          </a:p>
          <a:p>
            <a:pPr>
              <a:defRPr sz="1400">
                <a:solidFill>
                  <a:srgbClr val="1C1C2E"/>
                </a:solidFill>
              </a:defRPr>
            </a:pPr>
            <a:r>
              <a:t> </a:t>
            </a:r>
          </a:p>
          <a:p>
            <a:pPr>
              <a:defRPr b="1" sz="1400">
                <a:solidFill>
                  <a:srgbClr val="028090"/>
                </a:solidFill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cmux.com/zh-TW</a:t>
            </a:r>
          </a:p>
        </p:txBody>
      </p:sp>
      <p:sp>
        <p:nvSpPr>
          <p:cNvPr id="319" name="Shape 6"/>
          <p:cNvSpPr/>
          <p:nvPr/>
        </p:nvSpPr>
        <p:spPr>
          <a:xfrm>
            <a:off x="502919" y="2926079"/>
            <a:ext cx="2834641" cy="45720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7">
            <a:hlinkClick r:id="rId3" invalidUrl="" action="" tgtFrame="" tooltip="" history="1" highlightClick="0" endSnd="0"/>
          </p:cNvPr>
          <p:cNvSpPr txBox="1"/>
          <p:nvPr/>
        </p:nvSpPr>
        <p:spPr>
          <a:xfrm>
            <a:off x="502919" y="3027679"/>
            <a:ext cx="283464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前往 cmux.com</a:t>
            </a:r>
          </a:p>
        </p:txBody>
      </p:sp>
      <p:sp>
        <p:nvSpPr>
          <p:cNvPr id="321" name="Shape 8"/>
          <p:cNvSpPr/>
          <p:nvPr/>
        </p:nvSpPr>
        <p:spPr>
          <a:xfrm>
            <a:off x="3840479" y="960119"/>
            <a:ext cx="4937762" cy="3886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Shape 9"/>
          <p:cNvSpPr/>
          <p:nvPr/>
        </p:nvSpPr>
        <p:spPr>
          <a:xfrm>
            <a:off x="3840479" y="960119"/>
            <a:ext cx="4937762" cy="502920"/>
          </a:xfrm>
          <a:prstGeom prst="rect">
            <a:avLst/>
          </a:prstGeom>
          <a:solidFill>
            <a:srgbClr val="2D3A4A"/>
          </a:solidFill>
          <a:ln w="12700">
            <a:solidFill>
              <a:srgbClr val="2D3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Text 10"/>
          <p:cNvSpPr txBox="1"/>
          <p:nvPr/>
        </p:nvSpPr>
        <p:spPr>
          <a:xfrm>
            <a:off x="3977640" y="1067308"/>
            <a:ext cx="45720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Windows 替代方案</a:t>
            </a:r>
          </a:p>
        </p:txBody>
      </p:sp>
      <p:sp>
        <p:nvSpPr>
          <p:cNvPr id="324" name="Text 11"/>
          <p:cNvSpPr txBox="1"/>
          <p:nvPr/>
        </p:nvSpPr>
        <p:spPr>
          <a:xfrm>
            <a:off x="3977640" y="1633982"/>
            <a:ext cx="4572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E63946"/>
                </a:solidFill>
              </a:defRPr>
            </a:lvl1pPr>
          </a:lstStyle>
          <a:p>
            <a:pPr/>
            <a:r>
              <a:t>Cmux 目前不支援 Windows，以下為替代方案：</a:t>
            </a:r>
          </a:p>
        </p:txBody>
      </p:sp>
      <p:sp>
        <p:nvSpPr>
          <p:cNvPr id="325" name="Shape 12"/>
          <p:cNvSpPr/>
          <p:nvPr/>
        </p:nvSpPr>
        <p:spPr>
          <a:xfrm>
            <a:off x="3977640" y="2011679"/>
            <a:ext cx="4663441" cy="795529"/>
          </a:xfrm>
          <a:prstGeom prst="rect">
            <a:avLst/>
          </a:prstGeom>
          <a:solidFill>
            <a:srgbClr val="F6FAFA"/>
          </a:solidFill>
          <a:ln w="635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13"/>
          <p:cNvSpPr txBox="1"/>
          <p:nvPr/>
        </p:nvSpPr>
        <p:spPr>
          <a:xfrm>
            <a:off x="4114800" y="2129535"/>
            <a:ext cx="201167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Windows Terminal</a:t>
            </a:r>
          </a:p>
        </p:txBody>
      </p:sp>
      <p:sp>
        <p:nvSpPr>
          <p:cNvPr id="327" name="Shape 14"/>
          <p:cNvSpPr/>
          <p:nvPr/>
        </p:nvSpPr>
        <p:spPr>
          <a:xfrm>
            <a:off x="6263640" y="2084832"/>
            <a:ext cx="1325881" cy="256033"/>
          </a:xfrm>
          <a:prstGeom prst="rect">
            <a:avLst/>
          </a:prstGeom>
          <a:solidFill>
            <a:srgbClr val="E0F4F5"/>
          </a:solidFill>
          <a:ln w="12700">
            <a:solidFill>
              <a:srgbClr val="E0F4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15"/>
          <p:cNvSpPr txBox="1"/>
          <p:nvPr/>
        </p:nvSpPr>
        <p:spPr>
          <a:xfrm>
            <a:off x="6263640" y="2123948"/>
            <a:ext cx="13258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28090"/>
                </a:solidFill>
              </a:defRPr>
            </a:lvl1pPr>
          </a:lstStyle>
          <a:p>
            <a:pPr/>
            <a:r>
              <a:t>預設使用</a:t>
            </a:r>
          </a:p>
        </p:txBody>
      </p:sp>
      <p:sp>
        <p:nvSpPr>
          <p:cNvPr id="329" name="Text 16"/>
          <p:cNvSpPr txBox="1"/>
          <p:nvPr/>
        </p:nvSpPr>
        <p:spPr>
          <a:xfrm>
            <a:off x="4114800" y="2502662"/>
            <a:ext cx="43891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A7075"/>
                </a:solidFill>
              </a:defRPr>
            </a:lvl1pPr>
          </a:lstStyle>
          <a:p>
            <a:pPr/>
            <a:r>
              <a:t>Win11 內建，多分頁、自訂顏色，零安裝</a:t>
            </a:r>
          </a:p>
        </p:txBody>
      </p:sp>
      <p:sp>
        <p:nvSpPr>
          <p:cNvPr id="330" name="Shape 17"/>
          <p:cNvSpPr/>
          <p:nvPr/>
        </p:nvSpPr>
        <p:spPr>
          <a:xfrm>
            <a:off x="3977640" y="2898648"/>
            <a:ext cx="4663441" cy="795529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Text 18"/>
          <p:cNvSpPr txBox="1"/>
          <p:nvPr/>
        </p:nvSpPr>
        <p:spPr>
          <a:xfrm>
            <a:off x="4114800" y="3016503"/>
            <a:ext cx="201167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ea typeface="Trebuchet MS"/>
                <a:cs typeface="Trebuchet MS"/>
                <a:sym typeface="Trebuchet MS"/>
                <a:hlinkClick r:id="rId4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1C1C2E"/>
                </a:solidFill>
                <a:uFillTx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4" invalidUrl="" action="" tgtFrame="" tooltip="" history="1" highlightClick="0" endSnd="0"/>
              </a:rPr>
              <a:t>WMUX</a:t>
            </a:r>
          </a:p>
        </p:txBody>
      </p:sp>
      <p:sp>
        <p:nvSpPr>
          <p:cNvPr id="332" name="Shape 19"/>
          <p:cNvSpPr/>
          <p:nvPr/>
        </p:nvSpPr>
        <p:spPr>
          <a:xfrm>
            <a:off x="6263640" y="2971800"/>
            <a:ext cx="1325881" cy="256032"/>
          </a:xfrm>
          <a:prstGeom prst="rect">
            <a:avLst/>
          </a:prstGeom>
          <a:solidFill>
            <a:srgbClr val="E0F4F5"/>
          </a:solidFill>
          <a:ln w="12700">
            <a:solidFill>
              <a:srgbClr val="E0F4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20"/>
          <p:cNvSpPr txBox="1"/>
          <p:nvPr/>
        </p:nvSpPr>
        <p:spPr>
          <a:xfrm>
            <a:off x="6263640" y="3010916"/>
            <a:ext cx="13258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28090"/>
                </a:solidFill>
              </a:defRPr>
            </a:lvl1pPr>
          </a:lstStyle>
          <a:p>
            <a:pPr/>
            <a:r>
              <a:t>想要 Cmux 體驗</a:t>
            </a:r>
          </a:p>
        </p:txBody>
      </p:sp>
      <p:sp>
        <p:nvSpPr>
          <p:cNvPr id="334" name="Text 21"/>
          <p:cNvSpPr txBox="1"/>
          <p:nvPr/>
        </p:nvSpPr>
        <p:spPr>
          <a:xfrm>
            <a:off x="4114800" y="3389629"/>
            <a:ext cx="43891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A7075"/>
                </a:solidFill>
              </a:defRPr>
            </a:lvl1pPr>
          </a:lstStyle>
          <a:p>
            <a:pPr/>
            <a:r>
              <a:t>Windows 版 Cmux，分割視窗、多 session 並排</a:t>
            </a:r>
          </a:p>
        </p:txBody>
      </p:sp>
      <p:sp>
        <p:nvSpPr>
          <p:cNvPr id="335" name="Shape 22"/>
          <p:cNvSpPr/>
          <p:nvPr/>
        </p:nvSpPr>
        <p:spPr>
          <a:xfrm>
            <a:off x="3977640" y="3785615"/>
            <a:ext cx="4663441" cy="795529"/>
          </a:xfrm>
          <a:prstGeom prst="rect">
            <a:avLst/>
          </a:prstGeom>
          <a:solidFill>
            <a:srgbClr val="F6FAFA"/>
          </a:solidFill>
          <a:ln w="6350">
            <a:solidFill>
              <a:srgbClr val="E0E8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 23"/>
          <p:cNvSpPr txBox="1"/>
          <p:nvPr/>
        </p:nvSpPr>
        <p:spPr>
          <a:xfrm>
            <a:off x="4114800" y="3903471"/>
            <a:ext cx="201167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rebuchet MS"/>
                <a:ea typeface="Trebuchet MS"/>
                <a:cs typeface="Trebuchet MS"/>
                <a:sym typeface="Trebuchet MS"/>
                <a:hlinkClick r:id="rId5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1C1C2E"/>
                </a:solidFill>
                <a:uFillTx/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5" invalidUrl="" action="" tgtFrame="" tooltip="" history="1" highlightClick="0" endSnd="0"/>
              </a:rPr>
              <a:t>Tabby</a:t>
            </a:r>
          </a:p>
        </p:txBody>
      </p:sp>
      <p:sp>
        <p:nvSpPr>
          <p:cNvPr id="337" name="Shape 24"/>
          <p:cNvSpPr/>
          <p:nvPr/>
        </p:nvSpPr>
        <p:spPr>
          <a:xfrm>
            <a:off x="6263640" y="3858767"/>
            <a:ext cx="1325881" cy="256033"/>
          </a:xfrm>
          <a:prstGeom prst="rect">
            <a:avLst/>
          </a:prstGeom>
          <a:solidFill>
            <a:srgbClr val="E0F4F5"/>
          </a:solidFill>
          <a:ln w="12700">
            <a:solidFill>
              <a:srgbClr val="E0F4F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25"/>
          <p:cNvSpPr txBox="1"/>
          <p:nvPr/>
        </p:nvSpPr>
        <p:spPr>
          <a:xfrm>
            <a:off x="6263640" y="3897883"/>
            <a:ext cx="13258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028090"/>
                </a:solidFill>
              </a:defRPr>
            </a:lvl1pPr>
          </a:lstStyle>
          <a:p>
            <a:pPr/>
            <a:r>
              <a:t>跨平台 + 好看</a:t>
            </a:r>
          </a:p>
        </p:txBody>
      </p:sp>
      <p:sp>
        <p:nvSpPr>
          <p:cNvPr id="339" name="Text 26"/>
          <p:cNvSpPr txBox="1"/>
          <p:nvPr/>
        </p:nvSpPr>
        <p:spPr>
          <a:xfrm>
            <a:off x="4114800" y="4276598"/>
            <a:ext cx="43891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A7075"/>
                </a:solidFill>
              </a:defRPr>
            </a:lvl1pPr>
          </a:lstStyle>
          <a:p>
            <a:pPr/>
            <a:r>
              <a:t>免費開源，視覺效果好，支援分割視窗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-1" y="0"/>
            <a:ext cx="3200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Shape 1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Text 2"/>
          <p:cNvSpPr txBox="1"/>
          <p:nvPr/>
        </p:nvSpPr>
        <p:spPr>
          <a:xfrm>
            <a:off x="640080" y="415289"/>
            <a:ext cx="8229601" cy="118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44" name="Text 3"/>
          <p:cNvSpPr txBox="1"/>
          <p:nvPr/>
        </p:nvSpPr>
        <p:spPr>
          <a:xfrm>
            <a:off x="640080" y="1865629"/>
            <a:ext cx="8229601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CC Alias &amp; NO FLICKER 模式</a:t>
            </a:r>
          </a:p>
        </p:txBody>
      </p:sp>
      <p:sp>
        <p:nvSpPr>
          <p:cNvPr id="345" name="Text 4"/>
          <p:cNvSpPr txBox="1"/>
          <p:nvPr/>
        </p:nvSpPr>
        <p:spPr>
          <a:xfrm>
            <a:off x="640080" y="3002279"/>
            <a:ext cx="77724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A0BEC5"/>
                </a:solidFill>
              </a:defRPr>
            </a:lvl1pPr>
          </a:lstStyle>
          <a:p>
            <a:pPr/>
            <a:r>
              <a:t>CLAUDE_CODE_NO_FLICKER=1 — 差分渲染引擎（v2.1.89+）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開發者可能遇到這些問題</a:t>
            </a:r>
          </a:p>
        </p:txBody>
      </p:sp>
      <p:sp>
        <p:nvSpPr>
          <p:cNvPr id="349" name="Text 2"/>
          <p:cNvSpPr txBox="1"/>
          <p:nvPr/>
        </p:nvSpPr>
        <p:spPr>
          <a:xfrm>
            <a:off x="365759" y="1006855"/>
            <a:ext cx="841248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5A7075"/>
                </a:solidFill>
              </a:defRPr>
            </a:lvl1pPr>
          </a:lstStyle>
          <a:p>
            <a:pPr/>
            <a:r>
              <a:t>這些都不是 bug，是 Claude Code 預設渲染模式導致的。</a:t>
            </a:r>
          </a:p>
        </p:txBody>
      </p:sp>
      <p:sp>
        <p:nvSpPr>
          <p:cNvPr id="350" name="Shape 3"/>
          <p:cNvSpPr/>
          <p:nvPr/>
        </p:nvSpPr>
        <p:spPr>
          <a:xfrm>
            <a:off x="365759" y="1389888"/>
            <a:ext cx="8412482" cy="566929"/>
          </a:xfrm>
          <a:prstGeom prst="rect">
            <a:avLst/>
          </a:prstGeom>
          <a:solidFill>
            <a:srgbClr val="FFFFFF"/>
          </a:solidFill>
          <a:ln w="12700">
            <a:solidFill>
              <a:srgbClr val="FDDC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Shape 4"/>
          <p:cNvSpPr/>
          <p:nvPr/>
        </p:nvSpPr>
        <p:spPr>
          <a:xfrm>
            <a:off x="365759" y="1389888"/>
            <a:ext cx="73153" cy="566929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Text 5"/>
          <p:cNvSpPr txBox="1"/>
          <p:nvPr/>
        </p:nvSpPr>
        <p:spPr>
          <a:xfrm>
            <a:off x="566928" y="1546351"/>
            <a:ext cx="813816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2E"/>
                </a:solidFill>
              </a:defRPr>
            </a:lvl1pPr>
          </a:lstStyle>
          <a:p>
            <a:pPr/>
            <a:r>
              <a:t>想滾輪往上看對話？畫面刷新了，內容不見了</a:t>
            </a:r>
          </a:p>
        </p:txBody>
      </p:sp>
      <p:sp>
        <p:nvSpPr>
          <p:cNvPr id="353" name="Shape 6"/>
          <p:cNvSpPr/>
          <p:nvPr/>
        </p:nvSpPr>
        <p:spPr>
          <a:xfrm>
            <a:off x="365759" y="2048255"/>
            <a:ext cx="8412482" cy="566929"/>
          </a:xfrm>
          <a:prstGeom prst="rect">
            <a:avLst/>
          </a:prstGeom>
          <a:solidFill>
            <a:srgbClr val="FFFFFF"/>
          </a:solidFill>
          <a:ln w="12700">
            <a:solidFill>
              <a:srgbClr val="FDDC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Shape 7"/>
          <p:cNvSpPr/>
          <p:nvPr/>
        </p:nvSpPr>
        <p:spPr>
          <a:xfrm>
            <a:off x="365759" y="2048255"/>
            <a:ext cx="73153" cy="566929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Text 8"/>
          <p:cNvSpPr txBox="1"/>
          <p:nvPr/>
        </p:nvSpPr>
        <p:spPr>
          <a:xfrm>
            <a:off x="566928" y="2204719"/>
            <a:ext cx="813816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2E"/>
                </a:solidFill>
              </a:defRPr>
            </a:lvl1pPr>
          </a:lstStyle>
          <a:p>
            <a:pPr/>
            <a:r>
              <a:t>AI 回覆程式碼時，畫面一直跳一直閃，眼睛很累</a:t>
            </a:r>
          </a:p>
        </p:txBody>
      </p:sp>
      <p:sp>
        <p:nvSpPr>
          <p:cNvPr id="356" name="Shape 9"/>
          <p:cNvSpPr/>
          <p:nvPr/>
        </p:nvSpPr>
        <p:spPr>
          <a:xfrm>
            <a:off x="365759" y="2706623"/>
            <a:ext cx="8412482" cy="566929"/>
          </a:xfrm>
          <a:prstGeom prst="rect">
            <a:avLst/>
          </a:prstGeom>
          <a:solidFill>
            <a:srgbClr val="FFFFFF"/>
          </a:solidFill>
          <a:ln w="12700">
            <a:solidFill>
              <a:srgbClr val="FDDC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7" name="Shape 10"/>
          <p:cNvSpPr/>
          <p:nvPr/>
        </p:nvSpPr>
        <p:spPr>
          <a:xfrm>
            <a:off x="365759" y="2706623"/>
            <a:ext cx="73153" cy="566929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Text 11"/>
          <p:cNvSpPr txBox="1"/>
          <p:nvPr/>
        </p:nvSpPr>
        <p:spPr>
          <a:xfrm>
            <a:off x="566928" y="2863088"/>
            <a:ext cx="813816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2E"/>
                </a:solidFill>
              </a:defRPr>
            </a:lvl1pPr>
          </a:lstStyle>
          <a:p>
            <a:pPr/>
            <a:r>
              <a:t>想用滑鼠選文字複製？選不到，或選到不是你要的</a:t>
            </a:r>
          </a:p>
        </p:txBody>
      </p:sp>
      <p:sp>
        <p:nvSpPr>
          <p:cNvPr id="359" name="Shape 12"/>
          <p:cNvSpPr/>
          <p:nvPr/>
        </p:nvSpPr>
        <p:spPr>
          <a:xfrm>
            <a:off x="365759" y="3364991"/>
            <a:ext cx="8412482" cy="566929"/>
          </a:xfrm>
          <a:prstGeom prst="rect">
            <a:avLst/>
          </a:prstGeom>
          <a:solidFill>
            <a:srgbClr val="FFFFFF"/>
          </a:solidFill>
          <a:ln w="12700">
            <a:solidFill>
              <a:srgbClr val="FDDCD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Shape 13"/>
          <p:cNvSpPr/>
          <p:nvPr/>
        </p:nvSpPr>
        <p:spPr>
          <a:xfrm>
            <a:off x="365759" y="3364991"/>
            <a:ext cx="73153" cy="566929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Text 14"/>
          <p:cNvSpPr txBox="1"/>
          <p:nvPr/>
        </p:nvSpPr>
        <p:spPr>
          <a:xfrm>
            <a:off x="566928" y="3521455"/>
            <a:ext cx="813816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2E"/>
                </a:solidFill>
              </a:defRPr>
            </a:lvl1pPr>
          </a:lstStyle>
          <a:p>
            <a:pPr/>
            <a:r>
              <a:t>聊天越久，終端機變得越來越慢、越來越吃記憶體</a:t>
            </a:r>
          </a:p>
        </p:txBody>
      </p:sp>
      <p:sp>
        <p:nvSpPr>
          <p:cNvPr id="362" name="Shape 15"/>
          <p:cNvSpPr/>
          <p:nvPr/>
        </p:nvSpPr>
        <p:spPr>
          <a:xfrm>
            <a:off x="365759" y="4133088"/>
            <a:ext cx="8412482" cy="876301"/>
          </a:xfrm>
          <a:prstGeom prst="rect">
            <a:avLst/>
          </a:prstGeom>
          <a:solidFill>
            <a:srgbClr val="E0F4F5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Text 16"/>
          <p:cNvSpPr txBox="1"/>
          <p:nvPr/>
        </p:nvSpPr>
        <p:spPr>
          <a:xfrm>
            <a:off x="502919" y="4218178"/>
            <a:ext cx="8229601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5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讓 Claude Code 的終端機更好用：不閃爍、能滾動、滑鼠能用、快速啟動</a:t>
            </a:r>
          </a:p>
          <a:p>
            <a:pPr algn="ctr">
              <a:defRPr b="1" sz="15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好消息： 一行設定，全部解決 </a:t>
            </a:r>
          </a:p>
          <a:p>
            <a:pPr algn="ctr">
              <a:defRPr b="1" sz="10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社群評價：「從終端機 hack 變成像原生 App 的體驗。」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macOS / Linux 安裝</a:t>
            </a:r>
          </a:p>
        </p:txBody>
      </p:sp>
      <p:sp>
        <p:nvSpPr>
          <p:cNvPr id="367" name="Shape 2"/>
          <p:cNvSpPr/>
          <p:nvPr/>
        </p:nvSpPr>
        <p:spPr>
          <a:xfrm>
            <a:off x="365759" y="996696"/>
            <a:ext cx="429769" cy="429769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Text 3"/>
          <p:cNvSpPr txBox="1"/>
          <p:nvPr/>
        </p:nvSpPr>
        <p:spPr>
          <a:xfrm>
            <a:off x="365759" y="1103630"/>
            <a:ext cx="42976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9" name="Text 4"/>
          <p:cNvSpPr txBox="1"/>
          <p:nvPr/>
        </p:nvSpPr>
        <p:spPr>
          <a:xfrm>
            <a:off x="932688" y="1055369"/>
            <a:ext cx="77724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建立 cc alias</a:t>
            </a:r>
          </a:p>
        </p:txBody>
      </p:sp>
      <p:sp>
        <p:nvSpPr>
          <p:cNvPr id="370" name="Shape 5"/>
          <p:cNvSpPr/>
          <p:nvPr/>
        </p:nvSpPr>
        <p:spPr>
          <a:xfrm>
            <a:off x="365759" y="1463039"/>
            <a:ext cx="8412482" cy="749809"/>
          </a:xfrm>
          <a:prstGeom prst="rect">
            <a:avLst/>
          </a:prstGeom>
          <a:solidFill>
            <a:srgbClr val="12121E"/>
          </a:solidFill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Text 6"/>
          <p:cNvSpPr txBox="1"/>
          <p:nvPr/>
        </p:nvSpPr>
        <p:spPr>
          <a:xfrm>
            <a:off x="548640" y="1490472"/>
            <a:ext cx="822960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echo "alias cc='cd ~/你的專案路徑 &amp;&amp; CLAUDE_CODE_NO_FLICKER=1 claude'" &gt;&gt; ~/.zshrc &amp;&amp; source ~/.zshrc</a:t>
            </a:r>
          </a:p>
        </p:txBody>
      </p:sp>
      <p:sp>
        <p:nvSpPr>
          <p:cNvPr id="372" name="Shape 7"/>
          <p:cNvSpPr/>
          <p:nvPr/>
        </p:nvSpPr>
        <p:spPr>
          <a:xfrm>
            <a:off x="365759" y="2350007"/>
            <a:ext cx="429769" cy="429769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3" name="Text 8"/>
          <p:cNvSpPr txBox="1"/>
          <p:nvPr/>
        </p:nvSpPr>
        <p:spPr>
          <a:xfrm>
            <a:off x="365759" y="2456941"/>
            <a:ext cx="42976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4" name="Text 9"/>
          <p:cNvSpPr txBox="1"/>
          <p:nvPr/>
        </p:nvSpPr>
        <p:spPr>
          <a:xfrm>
            <a:off x="932688" y="2408681"/>
            <a:ext cx="77724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確認 alias 生效</a:t>
            </a:r>
          </a:p>
        </p:txBody>
      </p:sp>
      <p:sp>
        <p:nvSpPr>
          <p:cNvPr id="375" name="Shape 10"/>
          <p:cNvSpPr/>
          <p:nvPr/>
        </p:nvSpPr>
        <p:spPr>
          <a:xfrm>
            <a:off x="365759" y="2816351"/>
            <a:ext cx="8412482" cy="749809"/>
          </a:xfrm>
          <a:prstGeom prst="rect">
            <a:avLst/>
          </a:prstGeom>
          <a:solidFill>
            <a:srgbClr val="12121E"/>
          </a:solidFill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11"/>
          <p:cNvSpPr txBox="1"/>
          <p:nvPr/>
        </p:nvSpPr>
        <p:spPr>
          <a:xfrm>
            <a:off x="548640" y="2843783"/>
            <a:ext cx="822960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type cc</a:t>
            </a:r>
          </a:p>
          <a:p>
            <a:pPr>
              <a:defRPr sz="12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應顯示：cc is an alias for ...</a:t>
            </a:r>
          </a:p>
        </p:txBody>
      </p:sp>
      <p:sp>
        <p:nvSpPr>
          <p:cNvPr id="377" name="Shape 12"/>
          <p:cNvSpPr/>
          <p:nvPr/>
        </p:nvSpPr>
        <p:spPr>
          <a:xfrm>
            <a:off x="365759" y="3703320"/>
            <a:ext cx="429769" cy="429769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13"/>
          <p:cNvSpPr txBox="1"/>
          <p:nvPr/>
        </p:nvSpPr>
        <p:spPr>
          <a:xfrm>
            <a:off x="365759" y="3810254"/>
            <a:ext cx="42976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9" name="Text 14"/>
          <p:cNvSpPr txBox="1"/>
          <p:nvPr/>
        </p:nvSpPr>
        <p:spPr>
          <a:xfrm>
            <a:off x="932688" y="3761994"/>
            <a:ext cx="77724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啟動測試</a:t>
            </a:r>
          </a:p>
        </p:txBody>
      </p:sp>
      <p:sp>
        <p:nvSpPr>
          <p:cNvPr id="380" name="Shape 15"/>
          <p:cNvSpPr/>
          <p:nvPr/>
        </p:nvSpPr>
        <p:spPr>
          <a:xfrm>
            <a:off x="365759" y="4169664"/>
            <a:ext cx="8412482" cy="749809"/>
          </a:xfrm>
          <a:prstGeom prst="rect">
            <a:avLst/>
          </a:prstGeom>
          <a:solidFill>
            <a:srgbClr val="12121E"/>
          </a:solidFill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1" name="Text 16"/>
          <p:cNvSpPr txBox="1"/>
          <p:nvPr/>
        </p:nvSpPr>
        <p:spPr>
          <a:xfrm>
            <a:off x="548640" y="4197096"/>
            <a:ext cx="822960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cc</a:t>
            </a:r>
          </a:p>
          <a:p>
            <a:pPr>
              <a:defRPr sz="12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滾輪可回看、畫面不閃爍 = 成功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Windows PowerShell 安裝</a:t>
            </a:r>
          </a:p>
        </p:txBody>
      </p:sp>
      <p:sp>
        <p:nvSpPr>
          <p:cNvPr id="385" name="Shape 2"/>
          <p:cNvSpPr/>
          <p:nvPr/>
        </p:nvSpPr>
        <p:spPr>
          <a:xfrm>
            <a:off x="320040" y="996696"/>
            <a:ext cx="365761" cy="365761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ext 3"/>
          <p:cNvSpPr txBox="1"/>
          <p:nvPr/>
        </p:nvSpPr>
        <p:spPr>
          <a:xfrm>
            <a:off x="320040" y="1090676"/>
            <a:ext cx="3657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87" name="Text 4"/>
          <p:cNvSpPr txBox="1"/>
          <p:nvPr/>
        </p:nvSpPr>
        <p:spPr>
          <a:xfrm>
            <a:off x="777240" y="1065275"/>
            <a:ext cx="38404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用系統管理員身分開啟 PowerShell</a:t>
            </a:r>
          </a:p>
        </p:txBody>
      </p:sp>
      <p:sp>
        <p:nvSpPr>
          <p:cNvPr id="388" name="Text 5"/>
          <p:cNvSpPr txBox="1"/>
          <p:nvPr/>
        </p:nvSpPr>
        <p:spPr>
          <a:xfrm>
            <a:off x="777239" y="1480312"/>
            <a:ext cx="374904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A7075"/>
                </a:solidFill>
              </a:defRPr>
            </a:lvl1pPr>
          </a:lstStyle>
          <a:p>
            <a:pPr/>
            <a:r>
              <a:t>開始功能表搜尋 PowerShell → 右鍵 → 以系統管理員身分執行</a:t>
            </a:r>
          </a:p>
        </p:txBody>
      </p:sp>
      <p:sp>
        <p:nvSpPr>
          <p:cNvPr id="389" name="Shape 6"/>
          <p:cNvSpPr/>
          <p:nvPr/>
        </p:nvSpPr>
        <p:spPr>
          <a:xfrm>
            <a:off x="320040" y="2368295"/>
            <a:ext cx="365761" cy="365761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7"/>
          <p:cNvSpPr txBox="1"/>
          <p:nvPr/>
        </p:nvSpPr>
        <p:spPr>
          <a:xfrm>
            <a:off x="320040" y="2462275"/>
            <a:ext cx="3657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1" name="Text 8"/>
          <p:cNvSpPr txBox="1"/>
          <p:nvPr/>
        </p:nvSpPr>
        <p:spPr>
          <a:xfrm>
            <a:off x="777240" y="2436876"/>
            <a:ext cx="38404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允許執行自訂腳本</a:t>
            </a:r>
          </a:p>
        </p:txBody>
      </p:sp>
      <p:sp>
        <p:nvSpPr>
          <p:cNvPr id="392" name="Shape 9"/>
          <p:cNvSpPr/>
          <p:nvPr/>
        </p:nvSpPr>
        <p:spPr>
          <a:xfrm>
            <a:off x="320039" y="2807207"/>
            <a:ext cx="4206242" cy="777241"/>
          </a:xfrm>
          <a:prstGeom prst="rect">
            <a:avLst/>
          </a:prstGeom>
          <a:solidFill>
            <a:srgbClr val="12121E"/>
          </a:solidFill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3" name="Text 10"/>
          <p:cNvSpPr txBox="1"/>
          <p:nvPr/>
        </p:nvSpPr>
        <p:spPr>
          <a:xfrm>
            <a:off x="411479" y="2834639"/>
            <a:ext cx="40233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Set-ExecutionPolicy -ExecutionPolicy RemoteSigned -Scope CurrentUser</a:t>
            </a:r>
          </a:p>
        </p:txBody>
      </p:sp>
      <p:sp>
        <p:nvSpPr>
          <p:cNvPr id="394" name="Shape 11"/>
          <p:cNvSpPr/>
          <p:nvPr/>
        </p:nvSpPr>
        <p:spPr>
          <a:xfrm>
            <a:off x="320040" y="3739896"/>
            <a:ext cx="365761" cy="365761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Text 12"/>
          <p:cNvSpPr txBox="1"/>
          <p:nvPr/>
        </p:nvSpPr>
        <p:spPr>
          <a:xfrm>
            <a:off x="320040" y="3833876"/>
            <a:ext cx="3657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96" name="Text 13"/>
          <p:cNvSpPr txBox="1"/>
          <p:nvPr/>
        </p:nvSpPr>
        <p:spPr>
          <a:xfrm>
            <a:off x="777240" y="3808476"/>
            <a:ext cx="384048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確認 Profile 檔案存在</a:t>
            </a:r>
          </a:p>
        </p:txBody>
      </p:sp>
      <p:sp>
        <p:nvSpPr>
          <p:cNvPr id="397" name="Shape 14"/>
          <p:cNvSpPr/>
          <p:nvPr/>
        </p:nvSpPr>
        <p:spPr>
          <a:xfrm>
            <a:off x="320039" y="4178808"/>
            <a:ext cx="4206242" cy="777241"/>
          </a:xfrm>
          <a:prstGeom prst="rect">
            <a:avLst/>
          </a:prstGeom>
          <a:solidFill>
            <a:srgbClr val="12121E"/>
          </a:solidFill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15"/>
          <p:cNvSpPr txBox="1"/>
          <p:nvPr/>
        </p:nvSpPr>
        <p:spPr>
          <a:xfrm>
            <a:off x="411479" y="4206240"/>
            <a:ext cx="40233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if (!(Test-Path $PROFILE)) { New-Item -ItemType File -Path $PROFILE -Force }</a:t>
            </a:r>
          </a:p>
        </p:txBody>
      </p:sp>
      <p:sp>
        <p:nvSpPr>
          <p:cNvPr id="399" name="Shape 16"/>
          <p:cNvSpPr/>
          <p:nvPr/>
        </p:nvSpPr>
        <p:spPr>
          <a:xfrm>
            <a:off x="4782311" y="996696"/>
            <a:ext cx="365761" cy="365761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Text 17"/>
          <p:cNvSpPr txBox="1"/>
          <p:nvPr/>
        </p:nvSpPr>
        <p:spPr>
          <a:xfrm>
            <a:off x="4782311" y="1090676"/>
            <a:ext cx="3657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01" name="Text 18"/>
          <p:cNvSpPr txBox="1"/>
          <p:nvPr/>
        </p:nvSpPr>
        <p:spPr>
          <a:xfrm>
            <a:off x="5239511" y="1065275"/>
            <a:ext cx="38404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加入 cc function</a:t>
            </a:r>
          </a:p>
        </p:txBody>
      </p:sp>
      <p:sp>
        <p:nvSpPr>
          <p:cNvPr id="402" name="Shape 19"/>
          <p:cNvSpPr/>
          <p:nvPr/>
        </p:nvSpPr>
        <p:spPr>
          <a:xfrm>
            <a:off x="4782311" y="1435608"/>
            <a:ext cx="4206242" cy="777241"/>
          </a:xfrm>
          <a:prstGeom prst="rect">
            <a:avLst/>
          </a:prstGeom>
          <a:solidFill>
            <a:srgbClr val="12121E"/>
          </a:solidFill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3" name="Text 20"/>
          <p:cNvSpPr txBox="1"/>
          <p:nvPr/>
        </p:nvSpPr>
        <p:spPr>
          <a:xfrm>
            <a:off x="4873752" y="1463039"/>
            <a:ext cx="4023360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Add-Content $PROFILE "`nfunction cc { Set-Location 'C:\你的專案路徑'; `$env:CLAUDE_CODE_NO_FLICKER = '1'; claude @args }"</a:t>
            </a:r>
          </a:p>
        </p:txBody>
      </p:sp>
      <p:sp>
        <p:nvSpPr>
          <p:cNvPr id="404" name="Shape 21"/>
          <p:cNvSpPr/>
          <p:nvPr/>
        </p:nvSpPr>
        <p:spPr>
          <a:xfrm>
            <a:off x="4782311" y="2368295"/>
            <a:ext cx="365761" cy="365761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5" name="Text 22"/>
          <p:cNvSpPr txBox="1"/>
          <p:nvPr/>
        </p:nvSpPr>
        <p:spPr>
          <a:xfrm>
            <a:off x="4782311" y="2462275"/>
            <a:ext cx="3657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06" name="Text 23"/>
          <p:cNvSpPr txBox="1"/>
          <p:nvPr/>
        </p:nvSpPr>
        <p:spPr>
          <a:xfrm>
            <a:off x="5239511" y="2436876"/>
            <a:ext cx="38404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重新載入 Profile</a:t>
            </a:r>
          </a:p>
        </p:txBody>
      </p:sp>
      <p:sp>
        <p:nvSpPr>
          <p:cNvPr id="407" name="Shape 24"/>
          <p:cNvSpPr/>
          <p:nvPr/>
        </p:nvSpPr>
        <p:spPr>
          <a:xfrm>
            <a:off x="4782311" y="2807207"/>
            <a:ext cx="4206242" cy="777241"/>
          </a:xfrm>
          <a:prstGeom prst="rect">
            <a:avLst/>
          </a:prstGeom>
          <a:solidFill>
            <a:srgbClr val="12121E"/>
          </a:solidFill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8" name="Text 25"/>
          <p:cNvSpPr txBox="1"/>
          <p:nvPr/>
        </p:nvSpPr>
        <p:spPr>
          <a:xfrm>
            <a:off x="4873752" y="2834639"/>
            <a:ext cx="402336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. $PROFILE</a:t>
            </a:r>
          </a:p>
        </p:txBody>
      </p:sp>
      <p:sp>
        <p:nvSpPr>
          <p:cNvPr id="409" name="Shape 26"/>
          <p:cNvSpPr/>
          <p:nvPr/>
        </p:nvSpPr>
        <p:spPr>
          <a:xfrm>
            <a:off x="4782311" y="3739896"/>
            <a:ext cx="365761" cy="365761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Text 27"/>
          <p:cNvSpPr txBox="1"/>
          <p:nvPr/>
        </p:nvSpPr>
        <p:spPr>
          <a:xfrm>
            <a:off x="4782311" y="3833876"/>
            <a:ext cx="3657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11" name="Text 28"/>
          <p:cNvSpPr txBox="1"/>
          <p:nvPr/>
        </p:nvSpPr>
        <p:spPr>
          <a:xfrm>
            <a:off x="5239511" y="3808476"/>
            <a:ext cx="384048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驗證並啟動</a:t>
            </a:r>
          </a:p>
        </p:txBody>
      </p:sp>
      <p:sp>
        <p:nvSpPr>
          <p:cNvPr id="412" name="Shape 29"/>
          <p:cNvSpPr/>
          <p:nvPr/>
        </p:nvSpPr>
        <p:spPr>
          <a:xfrm>
            <a:off x="4782311" y="4178808"/>
            <a:ext cx="4206242" cy="777241"/>
          </a:xfrm>
          <a:prstGeom prst="rect">
            <a:avLst/>
          </a:prstGeom>
          <a:solidFill>
            <a:srgbClr val="12121E"/>
          </a:solidFill>
          <a:ln w="12700">
            <a:solidFill>
              <a:srgbClr val="2A2A4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Text 30"/>
          <p:cNvSpPr txBox="1"/>
          <p:nvPr/>
        </p:nvSpPr>
        <p:spPr>
          <a:xfrm>
            <a:off x="4873752" y="4206240"/>
            <a:ext cx="402336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Get-Command cc   # 確認生效</a:t>
            </a:r>
          </a:p>
          <a:p>
            <a:pPr>
              <a:defRPr sz="1000">
                <a:solidFill>
                  <a:srgbClr val="2DC7A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cc               # 啟動測試</a:t>
            </a:r>
          </a:p>
        </p:txBody>
      </p:sp>
      <p:sp>
        <p:nvSpPr>
          <p:cNvPr id="414" name="Text 31"/>
          <p:cNvSpPr txBox="1"/>
          <p:nvPr/>
        </p:nvSpPr>
        <p:spPr>
          <a:xfrm>
            <a:off x="4851400" y="361782"/>
            <a:ext cx="3749041" cy="355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900">
                <a:solidFill>
                  <a:srgbClr val="028090"/>
                </a:solidFill>
              </a:defRPr>
            </a:pPr>
            <a:r>
              <a:t>Windows 的 PowerShell 不支援 </a:t>
            </a:r>
            <a:r>
              <a:t>alias</a:t>
            </a:r>
            <a:r>
              <a:t> 語法，</a:t>
            </a:r>
          </a:p>
          <a:p>
            <a:pPr>
              <a:defRPr i="1" sz="900">
                <a:solidFill>
                  <a:srgbClr val="028090"/>
                </a:solidFill>
              </a:defRPr>
            </a:pPr>
            <a:r>
              <a:t>改用 </a:t>
            </a:r>
            <a:r>
              <a:t>function</a:t>
            </a:r>
            <a:r>
              <a:t>，寫入 PowerShell Profile 讓每次開終端機都自動生效。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0"/>
          <p:cNvSpPr/>
          <p:nvPr/>
        </p:nvSpPr>
        <p:spPr>
          <a:xfrm>
            <a:off x="-1" y="0"/>
            <a:ext cx="914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Text 1"/>
          <p:cNvSpPr txBox="1"/>
          <p:nvPr/>
        </p:nvSpPr>
        <p:spPr>
          <a:xfrm>
            <a:off x="365759" y="285495"/>
            <a:ext cx="841248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1C1C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完整差異對照</a:t>
            </a:r>
          </a:p>
        </p:txBody>
      </p:sp>
      <p:graphicFrame>
        <p:nvGraphicFramePr>
          <p:cNvPr id="418" name="Table 0"/>
          <p:cNvGraphicFramePr/>
          <p:nvPr/>
        </p:nvGraphicFramePr>
        <p:xfrm>
          <a:off x="365759" y="960119"/>
          <a:ext cx="8412482" cy="353872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20240"/>
                <a:gridCol w="2560320"/>
                <a:gridCol w="3931920"/>
              </a:tblGrid>
              <a:tr h="3931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功能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預設模式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NO_FLICKER 模式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2DC7A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2E"/>
                          </a:solidFill>
                        </a:rPr>
                        <a:t>畫面閃爍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C1C2E"/>
                          </a:solidFill>
                        </a:rPr>
                        <a:t>每個 token 整螢幕重繪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C1C2E"/>
                          </a:solidFill>
                        </a:rPr>
                        <a:t>差分渲染，穩定流暢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6FA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2E"/>
                          </a:solidFill>
                        </a:rPr>
                        <a:t>滑鼠滾輪回看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63946"/>
                          </a:solidFill>
                        </a:rPr>
                        <a:t>X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8A6A"/>
                          </a:solidFill>
                        </a:rPr>
                        <a:t>O（滾上去自動暫停 auto-follow）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0FB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2E"/>
                          </a:solidFill>
                        </a:rPr>
                        <a:t>Page Up / Down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63946"/>
                          </a:solidFill>
                        </a:rPr>
                        <a:t>X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8A6A"/>
                          </a:solidFill>
                        </a:rPr>
                        <a:t>O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0FB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2E"/>
                          </a:solidFill>
                        </a:rPr>
                        <a:t>滑鼠選取複製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C1C2E"/>
                          </a:solidFill>
                        </a:rPr>
                        <a:t>X 需用終端機原生選取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8A6A"/>
                          </a:solidFill>
                        </a:rPr>
                        <a:t>O 拖選即複製，雙擊選詞，三擊選行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0FB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2E"/>
                          </a:solidFill>
                        </a:rPr>
                        <a:t>滑鼠點擊操作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E63946"/>
                          </a:solidFill>
                        </a:rPr>
                        <a:t>X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A8A6A"/>
                          </a:solidFill>
                        </a:rPr>
                        <a:t>O 點擊定位游標、展開折疊、開連結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0FB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2E"/>
                          </a:solidFill>
                        </a:rPr>
                        <a:t>輸入框位置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C1C2E"/>
                          </a:solidFill>
                        </a:rPr>
                        <a:t>隨輸出移動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C1C2E"/>
                          </a:solidFill>
                        </a:rPr>
                        <a:t>固定在底部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2E"/>
                          </a:solidFill>
                        </a:rPr>
                        <a:t>記憶體佔用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C1C2E"/>
                          </a:solidFill>
                        </a:rPr>
                        <a:t>越聊越多（可達 800MB+）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C1C2E"/>
                          </a:solidFill>
                        </a:rPr>
                        <a:t>恆定（只渲染可見訊息）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6FA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2E"/>
                          </a:solidFill>
                        </a:rPr>
                        <a:t>所有 Claude Code 功能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C1C2E"/>
                          </a:solidFill>
                        </a:rPr>
                        <a:t>正常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1C1C2E"/>
                          </a:solidFill>
                        </a:rPr>
                        <a:t>正常（無影響）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E0E8EA"/>
                      </a:solidFill>
                    </a:lnL>
                    <a:lnR w="6350">
                      <a:solidFill>
                        <a:srgbClr val="E0E8EA"/>
                      </a:solidFill>
                    </a:lnR>
                    <a:lnT w="6350">
                      <a:solidFill>
                        <a:srgbClr val="E0E8EA"/>
                      </a:solidFill>
                    </a:lnT>
                    <a:lnB w="6350">
                      <a:solidFill>
                        <a:srgbClr val="E0E8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/>
          <p:cNvSpPr/>
          <p:nvPr/>
        </p:nvSpPr>
        <p:spPr>
          <a:xfrm>
            <a:off x="-1" y="0"/>
            <a:ext cx="32004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1" name="Shape 1"/>
          <p:cNvSpPr/>
          <p:nvPr/>
        </p:nvSpPr>
        <p:spPr>
          <a:xfrm>
            <a:off x="0" y="4892040"/>
            <a:ext cx="9144000" cy="256033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Shape 2"/>
          <p:cNvSpPr/>
          <p:nvPr/>
        </p:nvSpPr>
        <p:spPr>
          <a:xfrm>
            <a:off x="5486400" y="2743200"/>
            <a:ext cx="5486400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Text 3"/>
          <p:cNvSpPr txBox="1"/>
          <p:nvPr/>
        </p:nvSpPr>
        <p:spPr>
          <a:xfrm>
            <a:off x="640080" y="487680"/>
            <a:ext cx="8229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028090"/>
                </a:solidFill>
              </a:defRPr>
            </a:lvl1pPr>
          </a:lstStyle>
          <a:p>
            <a:pPr/>
            <a:r>
              <a:t>今天的重點</a:t>
            </a:r>
          </a:p>
        </p:txBody>
      </p:sp>
      <p:sp>
        <p:nvSpPr>
          <p:cNvPr id="424" name="Text 4"/>
          <p:cNvSpPr txBox="1"/>
          <p:nvPr/>
        </p:nvSpPr>
        <p:spPr>
          <a:xfrm>
            <a:off x="640080" y="1021080"/>
            <a:ext cx="77724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用對工具，讓 Claude Code 更聰明</a:t>
            </a:r>
          </a:p>
        </p:txBody>
      </p:sp>
      <p:sp>
        <p:nvSpPr>
          <p:cNvPr id="425" name="Shape 5"/>
          <p:cNvSpPr/>
          <p:nvPr/>
        </p:nvSpPr>
        <p:spPr>
          <a:xfrm>
            <a:off x="640080" y="2029967"/>
            <a:ext cx="73153" cy="658369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6" name="Text 6"/>
          <p:cNvSpPr txBox="1"/>
          <p:nvPr/>
        </p:nvSpPr>
        <p:spPr>
          <a:xfrm>
            <a:off x="841247" y="2104897"/>
            <a:ext cx="2286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9C74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Claude.md</a:t>
            </a:r>
          </a:p>
        </p:txBody>
      </p:sp>
      <p:sp>
        <p:nvSpPr>
          <p:cNvPr id="427" name="Text 7"/>
          <p:cNvSpPr txBox="1"/>
          <p:nvPr/>
        </p:nvSpPr>
        <p:spPr>
          <a:xfrm>
            <a:off x="841247" y="2436875"/>
            <a:ext cx="79552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A0BEC5"/>
                </a:solidFill>
              </a:defRPr>
            </a:lvl1pPr>
          </a:lstStyle>
          <a:p>
            <a:pPr/>
            <a:r>
              <a:t>量身打造規則比套模板有效；善用 Gemini 提示詞跨平台保存記憶</a:t>
            </a:r>
          </a:p>
        </p:txBody>
      </p:sp>
      <p:sp>
        <p:nvSpPr>
          <p:cNvPr id="428" name="Shape 8"/>
          <p:cNvSpPr/>
          <p:nvPr/>
        </p:nvSpPr>
        <p:spPr>
          <a:xfrm>
            <a:off x="640080" y="2898648"/>
            <a:ext cx="73153" cy="658369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9" name="Text 9"/>
          <p:cNvSpPr txBox="1"/>
          <p:nvPr/>
        </p:nvSpPr>
        <p:spPr>
          <a:xfrm>
            <a:off x="841247" y="2973577"/>
            <a:ext cx="2286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9C74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Cmux</a:t>
            </a:r>
          </a:p>
        </p:txBody>
      </p:sp>
      <p:sp>
        <p:nvSpPr>
          <p:cNvPr id="430" name="Text 10"/>
          <p:cNvSpPr txBox="1"/>
          <p:nvPr/>
        </p:nvSpPr>
        <p:spPr>
          <a:xfrm>
            <a:off x="841247" y="3305555"/>
            <a:ext cx="79552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A0BEC5"/>
                </a:solidFill>
              </a:defRPr>
            </a:lvl1pPr>
          </a:lstStyle>
          <a:p>
            <a:pPr/>
            <a:r>
              <a:t>多視窗、側邊欄、滑鼠全功能；Windows 可選 WMUX / Tabby 替代</a:t>
            </a:r>
          </a:p>
        </p:txBody>
      </p:sp>
      <p:sp>
        <p:nvSpPr>
          <p:cNvPr id="431" name="Shape 11"/>
          <p:cNvSpPr/>
          <p:nvPr/>
        </p:nvSpPr>
        <p:spPr>
          <a:xfrm>
            <a:off x="640080" y="3767328"/>
            <a:ext cx="73153" cy="658369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2" name="Text 12"/>
          <p:cNvSpPr txBox="1"/>
          <p:nvPr/>
        </p:nvSpPr>
        <p:spPr>
          <a:xfrm>
            <a:off x="841247" y="3842258"/>
            <a:ext cx="2286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9C74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CC Alias &amp; NO FLICKER</a:t>
            </a:r>
          </a:p>
        </p:txBody>
      </p:sp>
      <p:sp>
        <p:nvSpPr>
          <p:cNvPr id="433" name="Text 13"/>
          <p:cNvSpPr txBox="1"/>
          <p:nvPr/>
        </p:nvSpPr>
        <p:spPr>
          <a:xfrm>
            <a:off x="841247" y="4174235"/>
            <a:ext cx="79552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A0BEC5"/>
                </a:solidFill>
              </a:defRPr>
            </a:lvl1pPr>
          </a:lstStyle>
          <a:p>
            <a:pPr/>
            <a:r>
              <a:t>一行設定 解決閃爍、滾輪、滑鼠等痛點 外加快速啟動（Mac + Windows 均適用）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